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notesMasterIdLst>
    <p:notesMasterId r:id="rId13"/>
  </p:notesMasterIdLst>
  <p:sldIdLst>
    <p:sldId id="256" r:id="rId5"/>
    <p:sldId id="2076136488" r:id="rId6"/>
    <p:sldId id="2076136510" r:id="rId7"/>
    <p:sldId id="2076136509" r:id="rId8"/>
    <p:sldId id="2076136500" r:id="rId9"/>
    <p:sldId id="2076136502" r:id="rId10"/>
    <p:sldId id="2076136506" r:id="rId11"/>
    <p:sldId id="207613650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76E4E7-C67C-4091-9C54-14D2A53766D4}" type="datetimeFigureOut">
              <a:rPr lang="en-GB" smtClean="0"/>
              <a:t>2024-07-18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6D7DB-4603-4416-8525-0A65682114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99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82A255-5B60-42E5-B63E-46672AC34F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4582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82A255-5B60-42E5-B63E-46672AC34F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9760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82A255-5B60-42E5-B63E-46672AC34F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839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82A255-5B60-42E5-B63E-46672AC34F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610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82A255-5B60-42E5-B63E-46672AC34F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2862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82A255-5B60-42E5-B63E-46672AC34F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8533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1E8A1-6DA8-4496-BCE8-03ED561CC4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760"/>
            <a:ext cx="10515600" cy="2890202"/>
          </a:xfrm>
        </p:spPr>
        <p:txBody>
          <a:bodyPr anchor="b">
            <a:normAutofit/>
          </a:bodyPr>
          <a:lstStyle>
            <a:lvl1pPr algn="l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24CCC-3D44-4BB5-AA35-A21607EF6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06150"/>
            <a:ext cx="10515600" cy="248348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80F6-1855-44E9-BA95-5E00A06E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D7FFD-570A-4968-B943-AF87BB679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CE6A8-0665-4714-B241-6AFBA8C6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38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A8A8-ECDA-4018-ABB4-CC22892BE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0AE7C-51AF-4F0E-B5A3-8C7E1026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28C09-A717-49AB-B60E-433BC469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1A47A-6E5A-4754-8B43-9CE55616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CA1EB-7AC7-4F86-90C0-AA980D88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50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95957-C46F-4F17-BC8C-6507E676E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65760"/>
            <a:ext cx="10515600" cy="382786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9661B-6633-4C8B-8B9C-E514DF851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443817"/>
            <a:ext cx="10515600" cy="164583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274BF-C1CD-4709-B0A0-E9407DBE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9ADB94-0A5B-4B56-B0B1-1FF5580A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A668A-35AE-4CDF-AC4C-2BEEA9EE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28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7F1FD-0E96-4963-9F09-92861572B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9E5F0-B650-4AFF-B90E-23B378684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40876"/>
            <a:ext cx="5181600" cy="42360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1747B-302D-476E-8F4F-E4B114C662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0876"/>
            <a:ext cx="5181600" cy="4236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0577D-22F7-4958-BB3D-6C9265EA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C5B46-A8FB-4683-9618-3F6E07383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887BD-93E9-4181-9D7F-940C3E17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955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3D79-FA27-4567-9032-AF722733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7C1BF-703F-4992-BB0C-EB1E579C7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51823"/>
            <a:ext cx="5157787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2FCE1-6DC0-43B5-8016-89FD4AF5A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54741"/>
            <a:ext cx="5157787" cy="32349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FED7A-67D0-43CC-889A-25F884964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51823"/>
            <a:ext cx="5183188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31C176-48F2-44EC-B3A2-A144403D5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54741"/>
            <a:ext cx="5183188" cy="32349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9187B8-AC48-4FE7-8658-8A31E373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CAB465-E22E-45DC-89C9-406121BC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9D1CF-F964-4405-8677-5F9E2A02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72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3453-DD0F-41C0-8F4A-5DC343F5E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E6313-506F-4456-B3D9-D9655538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26068-7707-41EC-93EF-A24CAF8FF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C8A3C-8C01-4039-B47B-57D849758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60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892633-8C77-419D-B24D-2B3D44DBA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49D59-0A88-4A14-A740-4CCD9B52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3DEF9-802F-444E-92D2-397862EE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559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3C20-3881-4F15-94F7-9D7B9F9E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8F40F-6C2A-48EC-8F16-DA179A1DA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4638" y="457201"/>
            <a:ext cx="5800749" cy="540385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36B7E-D33D-48C7-97AC-5C0D9874F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4343400" cy="2211387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49BC5-FF58-463A-B4FA-F0F912F1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7072D7-4A2A-407F-A084-6AE8DD001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4C41C-C368-475C-BDC1-DC5B29C78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330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F67B0-865B-44ED-9DFE-36C73B0C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343400" cy="2971800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5400" kern="1200" dirty="0">
                <a:gradFill>
                  <a:gsLst>
                    <a:gs pos="100000">
                      <a:schemeClr val="tx2"/>
                    </a:gs>
                    <a:gs pos="0">
                      <a:schemeClr val="accent1"/>
                    </a:gs>
                  </a:gsLst>
                  <a:lin ang="0" scaled="1"/>
                </a:gradFill>
                <a:latin typeface="Aharoni" panose="02010803020104030203" pitchFamily="2" charset="-79"/>
                <a:ea typeface="+mn-ea"/>
                <a:cs typeface="Angsana New" panose="02020603050405020304" pitchFamily="18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3C5CF7-138A-437C-9E0A-FF41799703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61462" y="457201"/>
            <a:ext cx="5793925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17822-7770-4117-96A2-8D2FF0A01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664424"/>
            <a:ext cx="4343400" cy="2204564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95030-39C7-4814-A766-1A3E094E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F02CD-DC87-47B6-96C4-F6470B1D8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FF531-02C2-4C1D-A692-704037806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45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926EC-DC54-4882-9D58-F201EA25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804E7C-4CBA-49AF-B24C-1A1FF51C2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3C727-C0C7-4BBA-9CF5-6C1FAC76B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03986-C5B4-4956-AC6F-4F36186B8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5F941-E847-4C51-97D6-21066B26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867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0338D2-D9EE-4B67-97C1-08ABD5745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53848" y="365125"/>
            <a:ext cx="3999952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B1422-6C1E-4422-80E8-34B0092FB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626546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8B53C-3084-4BC0-A80E-DB41C04C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766A6-3C10-4AB8-86A1-BB1F0CDA7EFE}" type="datetimeFigureOut">
              <a:rPr lang="en-US" smtClean="0"/>
              <a:t>7/18/2024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6BFDE-DC70-4A6E-90B8-337FC472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3578F-39AE-4F6F-9614-32EF672E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60201-1C40-4B39-813D-5CD9493BAE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345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627A2-A76E-49C4-8C11-71FE654F6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786C6-34F1-44CF-9E6A-47EDC8DAA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D39BD5-6094-4577-A214-A6195B695D21}"/>
              </a:ext>
            </a:extLst>
          </p:cNvPr>
          <p:cNvSpPr/>
          <p:nvPr userDrawn="1"/>
        </p:nvSpPr>
        <p:spPr>
          <a:xfrm>
            <a:off x="3657600" y="6705600"/>
            <a:ext cx="4876800" cy="152400"/>
          </a:xfrm>
          <a:prstGeom prst="rect">
            <a:avLst/>
          </a:prstGeom>
          <a:solidFill>
            <a:srgbClr val="005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0" i="0" u="none" strike="noStrike" baseline="0">
                <a:latin typeface="Lato" panose="020F0502020204030203" pitchFamily="34" charset="0"/>
              </a:rPr>
              <a:t>                                                                         </a:t>
            </a:r>
            <a:endParaRPr lang="en-US" sz="900" b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A0D489-553D-4D1E-8FB9-66F06F0591F3}"/>
              </a:ext>
            </a:extLst>
          </p:cNvPr>
          <p:cNvGrpSpPr/>
          <p:nvPr userDrawn="1"/>
        </p:nvGrpSpPr>
        <p:grpSpPr>
          <a:xfrm>
            <a:off x="1536878" y="45720"/>
            <a:ext cx="10655978" cy="6856672"/>
            <a:chOff x="1563420" y="21876"/>
            <a:chExt cx="10655978" cy="6856672"/>
          </a:xfrm>
        </p:grpSpPr>
        <p:pic>
          <p:nvPicPr>
            <p:cNvPr id="20" name="Picture 2" descr="C:\Users\User\Music\New folder\PPT-02.png">
              <a:extLst>
                <a:ext uri="{FF2B5EF4-FFF2-40B4-BE49-F238E27FC236}">
                  <a16:creationId xmlns:a16="http://schemas.microsoft.com/office/drawing/2014/main" id="{08F8BFA3-1FD7-47B3-85E2-0013EB51E85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/>
            <a:srcRect l="16926"/>
            <a:stretch/>
          </p:blipFill>
          <p:spPr bwMode="auto">
            <a:xfrm>
              <a:off x="1563420" y="21876"/>
              <a:ext cx="10655978" cy="6856672"/>
            </a:xfrm>
            <a:prstGeom prst="rect">
              <a:avLst/>
            </a:prstGeom>
            <a:noFill/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CA81A3D5-8841-4018-8350-F82DB8773E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519614" y="5910231"/>
              <a:ext cx="2324100" cy="847725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F3AE0DFB-9EAB-4634-A41E-5712F2C1D07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0046" y="6423972"/>
            <a:ext cx="1196560" cy="35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964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6818BD-D734-48A1-8CC0-609D11E5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D215A-D2A1-4903-A905-F8B06EF41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0875"/>
            <a:ext cx="10515600" cy="42360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2B88A-7A1D-4AA1-8536-28DC13D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766A6-3C10-4AB8-86A1-BB1F0CDA7EFE}" type="datetimeFigureOut">
              <a:rPr lang="en-US" smtClean="0"/>
              <a:pPr/>
              <a:t>7/18/2024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FE925-0C4B-4BAE-9799-3A9D46D92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AD54-E5C5-4D48-8592-BB22F0A85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60201-1C40-4B39-813D-5CD9493BAE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651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  <p:sldLayoutId id="2147483739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5400" kern="1200" smtClean="0">
          <a:gradFill>
            <a:gsLst>
              <a:gs pos="100000">
                <a:schemeClr val="tx2"/>
              </a:gs>
              <a:gs pos="0">
                <a:schemeClr val="accent1"/>
              </a:gs>
            </a:gsLst>
            <a:lin ang="0" scaled="1"/>
          </a:gradFill>
          <a:latin typeface="Aharoni" panose="02010803020104030203" pitchFamily="2" charset="-79"/>
          <a:ea typeface="+mn-ea"/>
          <a:cs typeface="Angsana New" panose="02020603050405020304" pitchFamily="18" charset="-34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18EEF0-D8EE-FB65-E58A-959179127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3675" y="596644"/>
            <a:ext cx="5500125" cy="3435606"/>
          </a:xfrm>
        </p:spPr>
        <p:txBody>
          <a:bodyPr anchor="b">
            <a:normAutofit/>
          </a:bodyPr>
          <a:lstStyle/>
          <a:p>
            <a:pPr algn="r"/>
            <a:r>
              <a:rPr lang="en-GB" dirty="0"/>
              <a:t>Internship Viva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0D8618-421E-D99E-E022-6C17B2F73F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53675" y="4298950"/>
            <a:ext cx="5500125" cy="1962406"/>
          </a:xfrm>
        </p:spPr>
        <p:txBody>
          <a:bodyPr>
            <a:normAutofit/>
          </a:bodyPr>
          <a:lstStyle/>
          <a:p>
            <a:pPr algn="r"/>
            <a:r>
              <a:rPr lang="en-GB" dirty="0"/>
              <a:t>201462D</a:t>
            </a:r>
            <a:endParaRPr lang="en-GB"/>
          </a:p>
          <a:p>
            <a:pPr algn="r"/>
            <a:r>
              <a:rPr lang="en-GB" dirty="0"/>
              <a:t>S. U. G. Senanayake</a:t>
            </a:r>
            <a:endParaRPr lang="en-GB"/>
          </a:p>
        </p:txBody>
      </p:sp>
      <p:pic>
        <p:nvPicPr>
          <p:cNvPr id="4" name="Picture 3" descr="A close-up of a wall&#10;&#10;Description automatically generated">
            <a:extLst>
              <a:ext uri="{FF2B5EF4-FFF2-40B4-BE49-F238E27FC236}">
                <a16:creationId xmlns:a16="http://schemas.microsoft.com/office/drawing/2014/main" id="{3A037AD8-084C-5859-0BE0-A3B3A2B2C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56" y="3846342"/>
            <a:ext cx="4780081" cy="2186887"/>
          </a:xfrm>
          <a:prstGeom prst="rect">
            <a:avLst/>
          </a:prstGeom>
        </p:spPr>
      </p:pic>
      <p:pic>
        <p:nvPicPr>
          <p:cNvPr id="5" name="Picture 4" descr="A close up of a grid&#10;&#10;Description automatically generated">
            <a:extLst>
              <a:ext uri="{FF2B5EF4-FFF2-40B4-BE49-F238E27FC236}">
                <a16:creationId xmlns:a16="http://schemas.microsoft.com/office/drawing/2014/main" id="{436E8E0B-7ED2-09EA-EB3F-D6C0073EC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57" y="829831"/>
            <a:ext cx="4780081" cy="218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731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E978CA-D571-446C-813C-7EB416F03253}"/>
              </a:ext>
            </a:extLst>
          </p:cNvPr>
          <p:cNvCxnSpPr>
            <a:cxnSpLocks/>
          </p:cNvCxnSpPr>
          <p:nvPr/>
        </p:nvCxnSpPr>
        <p:spPr>
          <a:xfrm>
            <a:off x="487680" y="990600"/>
            <a:ext cx="2331720" cy="0"/>
          </a:xfrm>
          <a:prstGeom prst="line">
            <a:avLst/>
          </a:prstGeom>
          <a:ln w="152400" cap="sq">
            <a:solidFill>
              <a:srgbClr val="E3693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BAE384-4018-40A9-9E1F-DAD16095BCEE}"/>
              </a:ext>
            </a:extLst>
          </p:cNvPr>
          <p:cNvCxnSpPr>
            <a:cxnSpLocks/>
          </p:cNvCxnSpPr>
          <p:nvPr/>
        </p:nvCxnSpPr>
        <p:spPr>
          <a:xfrm>
            <a:off x="2209800" y="990600"/>
            <a:ext cx="5562600" cy="0"/>
          </a:xfrm>
          <a:prstGeom prst="line">
            <a:avLst/>
          </a:prstGeom>
          <a:ln w="15875">
            <a:solidFill>
              <a:srgbClr val="E369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E56D760-EBF5-43AF-BCC4-76E43A51D543}"/>
              </a:ext>
            </a:extLst>
          </p:cNvPr>
          <p:cNvSpPr txBox="1"/>
          <p:nvPr/>
        </p:nvSpPr>
        <p:spPr>
          <a:xfrm>
            <a:off x="381000" y="228601"/>
            <a:ext cx="6446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Agenda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B8ED87-319A-70F3-BDED-56A248DC9D36}"/>
              </a:ext>
            </a:extLst>
          </p:cNvPr>
          <p:cNvSpPr/>
          <p:nvPr/>
        </p:nvSpPr>
        <p:spPr>
          <a:xfrm>
            <a:off x="76200" y="6172200"/>
            <a:ext cx="2743200" cy="6463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5AE64AB4-CBB3-9959-49BC-A8745CB060C5}"/>
              </a:ext>
            </a:extLst>
          </p:cNvPr>
          <p:cNvSpPr txBox="1">
            <a:spLocks/>
          </p:cNvSpPr>
          <p:nvPr/>
        </p:nvSpPr>
        <p:spPr>
          <a:xfrm>
            <a:off x="320614" y="874932"/>
            <a:ext cx="10515600" cy="57154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E76618"/>
              </a:buClr>
              <a:buSzPct val="90000"/>
              <a:buNone/>
            </a:pPr>
            <a:r>
              <a:rPr lang="en-US" sz="1800" dirty="0">
                <a:latin typeface="Lato"/>
                <a:ea typeface="Lato"/>
                <a:cs typeface="Calibri"/>
              </a:rPr>
              <a:t>	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US" sz="2000" dirty="0">
                <a:latin typeface="Lato"/>
                <a:ea typeface="Lato"/>
                <a:cs typeface="Calibri"/>
              </a:rPr>
              <a:t>Introduction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US" sz="2000" dirty="0">
                <a:latin typeface="Lato"/>
                <a:ea typeface="Lato"/>
                <a:cs typeface="Calibri"/>
              </a:rPr>
              <a:t>Covered Areas in SAP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US" sz="2000" dirty="0">
                <a:latin typeface="Lato"/>
                <a:ea typeface="Lato"/>
                <a:cs typeface="Calibri"/>
              </a:rPr>
              <a:t>Specialization in ABAP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US" sz="2000" dirty="0">
                <a:latin typeface="Lato"/>
                <a:ea typeface="Lato"/>
                <a:cs typeface="Calibri"/>
              </a:rPr>
              <a:t>Projects / Tickets 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US" sz="2000" dirty="0">
                <a:latin typeface="Lato"/>
                <a:ea typeface="Lato"/>
                <a:cs typeface="Calibri"/>
              </a:rPr>
              <a:t>Projects / Tickets – Client Wise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endParaRPr lang="en-US" sz="2000" dirty="0">
              <a:latin typeface="Lato"/>
              <a:ea typeface="Lato"/>
              <a:cs typeface="Calibri"/>
            </a:endParaRP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endParaRPr lang="en-US" sz="2000" dirty="0">
              <a:latin typeface="Lato"/>
              <a:ea typeface="Lat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7966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E978CA-D571-446C-813C-7EB416F03253}"/>
              </a:ext>
            </a:extLst>
          </p:cNvPr>
          <p:cNvCxnSpPr>
            <a:cxnSpLocks/>
          </p:cNvCxnSpPr>
          <p:nvPr/>
        </p:nvCxnSpPr>
        <p:spPr>
          <a:xfrm>
            <a:off x="487680" y="990600"/>
            <a:ext cx="2331720" cy="0"/>
          </a:xfrm>
          <a:prstGeom prst="line">
            <a:avLst/>
          </a:prstGeom>
          <a:ln w="152400" cap="sq">
            <a:solidFill>
              <a:srgbClr val="E3693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BAE384-4018-40A9-9E1F-DAD16095BCEE}"/>
              </a:ext>
            </a:extLst>
          </p:cNvPr>
          <p:cNvCxnSpPr>
            <a:cxnSpLocks/>
          </p:cNvCxnSpPr>
          <p:nvPr/>
        </p:nvCxnSpPr>
        <p:spPr>
          <a:xfrm>
            <a:off x="2209800" y="990600"/>
            <a:ext cx="5562600" cy="0"/>
          </a:xfrm>
          <a:prstGeom prst="line">
            <a:avLst/>
          </a:prstGeom>
          <a:ln w="15875">
            <a:solidFill>
              <a:srgbClr val="E369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E56D760-EBF5-43AF-BCC4-76E43A51D543}"/>
              </a:ext>
            </a:extLst>
          </p:cNvPr>
          <p:cNvSpPr txBox="1"/>
          <p:nvPr/>
        </p:nvSpPr>
        <p:spPr>
          <a:xfrm>
            <a:off x="381000" y="228601"/>
            <a:ext cx="6446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Introduction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B8ED87-319A-70F3-BDED-56A248DC9D36}"/>
              </a:ext>
            </a:extLst>
          </p:cNvPr>
          <p:cNvSpPr/>
          <p:nvPr/>
        </p:nvSpPr>
        <p:spPr>
          <a:xfrm>
            <a:off x="76200" y="6172200"/>
            <a:ext cx="2743200" cy="6463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C159A7-E59A-3505-5F82-21205C5F6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254" y="1897418"/>
            <a:ext cx="4048125" cy="28765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7D22C1-A1BA-4286-979D-0467BFD43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622" y="2123391"/>
            <a:ext cx="4200525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644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E978CA-D571-446C-813C-7EB416F03253}"/>
              </a:ext>
            </a:extLst>
          </p:cNvPr>
          <p:cNvCxnSpPr>
            <a:cxnSpLocks/>
          </p:cNvCxnSpPr>
          <p:nvPr/>
        </p:nvCxnSpPr>
        <p:spPr>
          <a:xfrm>
            <a:off x="487680" y="990600"/>
            <a:ext cx="2331720" cy="0"/>
          </a:xfrm>
          <a:prstGeom prst="line">
            <a:avLst/>
          </a:prstGeom>
          <a:ln w="152400" cap="sq">
            <a:solidFill>
              <a:srgbClr val="E3693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BAE384-4018-40A9-9E1F-DAD16095BCEE}"/>
              </a:ext>
            </a:extLst>
          </p:cNvPr>
          <p:cNvCxnSpPr>
            <a:cxnSpLocks/>
          </p:cNvCxnSpPr>
          <p:nvPr/>
        </p:nvCxnSpPr>
        <p:spPr>
          <a:xfrm>
            <a:off x="2209800" y="990600"/>
            <a:ext cx="5562600" cy="0"/>
          </a:xfrm>
          <a:prstGeom prst="line">
            <a:avLst/>
          </a:prstGeom>
          <a:ln w="15875">
            <a:solidFill>
              <a:srgbClr val="E369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E56D760-EBF5-43AF-BCC4-76E43A51D543}"/>
              </a:ext>
            </a:extLst>
          </p:cNvPr>
          <p:cNvSpPr txBox="1"/>
          <p:nvPr/>
        </p:nvSpPr>
        <p:spPr>
          <a:xfrm>
            <a:off x="348343" y="206829"/>
            <a:ext cx="644652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>
              <a:defRPr/>
            </a:pPr>
            <a:r>
              <a:rPr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 panose="020B0603020202020204"/>
              </a:rPr>
              <a:t>Covered Areas in SAP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B8ED87-319A-70F3-BDED-56A248DC9D36}"/>
              </a:ext>
            </a:extLst>
          </p:cNvPr>
          <p:cNvSpPr/>
          <p:nvPr/>
        </p:nvSpPr>
        <p:spPr>
          <a:xfrm>
            <a:off x="76200" y="6172200"/>
            <a:ext cx="2743200" cy="6463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5AE64AB4-CBB3-9959-49BC-A8745CB060C5}"/>
              </a:ext>
            </a:extLst>
          </p:cNvPr>
          <p:cNvSpPr txBox="1">
            <a:spLocks/>
          </p:cNvSpPr>
          <p:nvPr/>
        </p:nvSpPr>
        <p:spPr>
          <a:xfrm>
            <a:off x="577383" y="1103126"/>
            <a:ext cx="10515600" cy="2924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</a:pP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49E63753-095D-A47B-0C00-32F16876679D}"/>
              </a:ext>
            </a:extLst>
          </p:cNvPr>
          <p:cNvSpPr txBox="1">
            <a:spLocks/>
          </p:cNvSpPr>
          <p:nvPr/>
        </p:nvSpPr>
        <p:spPr>
          <a:xfrm>
            <a:off x="381000" y="988106"/>
            <a:ext cx="10515600" cy="57154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4"/>
              </a:buClr>
              <a:buSzPct val="90000"/>
              <a:buFont typeface="Wingdings" charset="2"/>
              <a:buChar char="§"/>
            </a:pPr>
            <a:endParaRPr lang="en-US" sz="2000" dirty="0">
              <a:latin typeface="Lato"/>
              <a:ea typeface="Lato"/>
              <a:cs typeface="Calibri" panose="020F0502020204030204" pitchFamily="34" charset="0"/>
            </a:endParaRP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US" sz="2000" dirty="0">
                <a:latin typeface="Lato"/>
                <a:ea typeface="Lato"/>
                <a:cs typeface="Calibri"/>
              </a:rPr>
              <a:t>Project Management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US" sz="2000" dirty="0">
                <a:latin typeface="Lato"/>
                <a:ea typeface="Lato"/>
                <a:cs typeface="Calibri"/>
              </a:rPr>
              <a:t>Materials Management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US" sz="2000" dirty="0">
                <a:latin typeface="Lato"/>
                <a:ea typeface="Lato"/>
                <a:cs typeface="Calibri"/>
              </a:rPr>
              <a:t>Production Planning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US" sz="2000" dirty="0">
                <a:latin typeface="Lato"/>
                <a:ea typeface="Lato"/>
                <a:cs typeface="Calibri"/>
              </a:rPr>
              <a:t>Sales and Distribution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US" sz="2000" dirty="0">
                <a:latin typeface="Lato"/>
                <a:ea typeface="Lato"/>
                <a:cs typeface="Calibri"/>
              </a:rPr>
              <a:t>Finance and Controlling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US" sz="2000" dirty="0">
                <a:latin typeface="Lato"/>
                <a:ea typeface="Lato"/>
                <a:cs typeface="Calibri"/>
              </a:rPr>
              <a:t>Plant Maintenance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US" sz="2000" dirty="0">
                <a:latin typeface="Lato"/>
                <a:ea typeface="Lato"/>
                <a:cs typeface="Calibri"/>
              </a:rPr>
              <a:t>ABAP Development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endParaRPr lang="en-US" sz="2000" dirty="0">
              <a:latin typeface="Lato"/>
              <a:ea typeface="Lato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0650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E978CA-D571-446C-813C-7EB416F03253}"/>
              </a:ext>
            </a:extLst>
          </p:cNvPr>
          <p:cNvCxnSpPr>
            <a:cxnSpLocks/>
          </p:cNvCxnSpPr>
          <p:nvPr/>
        </p:nvCxnSpPr>
        <p:spPr>
          <a:xfrm>
            <a:off x="487680" y="990600"/>
            <a:ext cx="2331720" cy="0"/>
          </a:xfrm>
          <a:prstGeom prst="line">
            <a:avLst/>
          </a:prstGeom>
          <a:ln w="152400" cap="sq">
            <a:solidFill>
              <a:srgbClr val="E3693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BAE384-4018-40A9-9E1F-DAD16095BCEE}"/>
              </a:ext>
            </a:extLst>
          </p:cNvPr>
          <p:cNvCxnSpPr>
            <a:cxnSpLocks/>
          </p:cNvCxnSpPr>
          <p:nvPr/>
        </p:nvCxnSpPr>
        <p:spPr>
          <a:xfrm>
            <a:off x="2209800" y="990600"/>
            <a:ext cx="5562600" cy="0"/>
          </a:xfrm>
          <a:prstGeom prst="line">
            <a:avLst/>
          </a:prstGeom>
          <a:ln w="15875">
            <a:solidFill>
              <a:srgbClr val="E369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E56D760-EBF5-43AF-BCC4-76E43A51D543}"/>
              </a:ext>
            </a:extLst>
          </p:cNvPr>
          <p:cNvSpPr txBox="1"/>
          <p:nvPr/>
        </p:nvSpPr>
        <p:spPr>
          <a:xfrm>
            <a:off x="348343" y="206829"/>
            <a:ext cx="644652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>
              <a:defRPr/>
            </a:pPr>
            <a:r>
              <a:rPr lang="en-US" sz="3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 panose="020B0603020202020204"/>
              </a:rPr>
              <a:t>Specialization in ABAP</a:t>
            </a:r>
            <a:endParaRPr 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rebuchet MS" panose="020B060302020202020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B8ED87-319A-70F3-BDED-56A248DC9D36}"/>
              </a:ext>
            </a:extLst>
          </p:cNvPr>
          <p:cNvSpPr/>
          <p:nvPr/>
        </p:nvSpPr>
        <p:spPr>
          <a:xfrm>
            <a:off x="76200" y="6172200"/>
            <a:ext cx="2743200" cy="6463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5AE64AB4-CBB3-9959-49BC-A8745CB060C5}"/>
              </a:ext>
            </a:extLst>
          </p:cNvPr>
          <p:cNvSpPr txBox="1">
            <a:spLocks/>
          </p:cNvSpPr>
          <p:nvPr/>
        </p:nvSpPr>
        <p:spPr>
          <a:xfrm>
            <a:off x="577383" y="1103126"/>
            <a:ext cx="10515600" cy="2924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</a:pP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49E63753-095D-A47B-0C00-32F16876679D}"/>
              </a:ext>
            </a:extLst>
          </p:cNvPr>
          <p:cNvSpPr txBox="1">
            <a:spLocks/>
          </p:cNvSpPr>
          <p:nvPr/>
        </p:nvSpPr>
        <p:spPr>
          <a:xfrm>
            <a:off x="381000" y="988106"/>
            <a:ext cx="10515600" cy="57154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4"/>
              </a:buClr>
              <a:buSzPct val="90000"/>
              <a:buFont typeface="Wingdings" charset="2"/>
              <a:buChar char="§"/>
            </a:pPr>
            <a:endParaRPr lang="en-US" sz="2000" dirty="0">
              <a:latin typeface="Lato"/>
              <a:ea typeface="Lato"/>
              <a:cs typeface="Calibri" panose="020F0502020204030204" pitchFamily="34" charset="0"/>
            </a:endParaRP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US" sz="2000" dirty="0">
                <a:latin typeface="Lato"/>
                <a:ea typeface="Lato"/>
                <a:cs typeface="Calibri"/>
              </a:rPr>
              <a:t>ALV Reports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US" sz="2000" dirty="0">
                <a:latin typeface="Lato"/>
                <a:ea typeface="Lato"/>
                <a:cs typeface="Calibri"/>
              </a:rPr>
              <a:t>Smart Forms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US" sz="2000" dirty="0">
                <a:latin typeface="Lato"/>
                <a:ea typeface="Lato"/>
                <a:cs typeface="Calibri"/>
              </a:rPr>
              <a:t>Module Pool</a:t>
            </a:r>
          </a:p>
        </p:txBody>
      </p:sp>
    </p:spTree>
    <p:extLst>
      <p:ext uri="{BB962C8B-B14F-4D97-AF65-F5344CB8AC3E}">
        <p14:creationId xmlns:p14="http://schemas.microsoft.com/office/powerpoint/2010/main" val="3125138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E978CA-D571-446C-813C-7EB416F03253}"/>
              </a:ext>
            </a:extLst>
          </p:cNvPr>
          <p:cNvCxnSpPr>
            <a:cxnSpLocks/>
          </p:cNvCxnSpPr>
          <p:nvPr/>
        </p:nvCxnSpPr>
        <p:spPr>
          <a:xfrm>
            <a:off x="487680" y="990600"/>
            <a:ext cx="2331720" cy="0"/>
          </a:xfrm>
          <a:prstGeom prst="line">
            <a:avLst/>
          </a:prstGeom>
          <a:ln w="152400" cap="sq">
            <a:solidFill>
              <a:srgbClr val="E3693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BAE384-4018-40A9-9E1F-DAD16095BCEE}"/>
              </a:ext>
            </a:extLst>
          </p:cNvPr>
          <p:cNvCxnSpPr>
            <a:cxnSpLocks/>
          </p:cNvCxnSpPr>
          <p:nvPr/>
        </p:nvCxnSpPr>
        <p:spPr>
          <a:xfrm>
            <a:off x="2209800" y="990600"/>
            <a:ext cx="5562600" cy="0"/>
          </a:xfrm>
          <a:prstGeom prst="line">
            <a:avLst/>
          </a:prstGeom>
          <a:ln w="15875">
            <a:solidFill>
              <a:srgbClr val="E369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E56D760-EBF5-43AF-BCC4-76E43A51D543}"/>
              </a:ext>
            </a:extLst>
          </p:cNvPr>
          <p:cNvSpPr txBox="1"/>
          <p:nvPr/>
        </p:nvSpPr>
        <p:spPr>
          <a:xfrm>
            <a:off x="348343" y="206829"/>
            <a:ext cx="644652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>
              <a:defRPr/>
            </a:pPr>
            <a:r>
              <a:rPr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 panose="020B0603020202020204"/>
              </a:rPr>
              <a:t>Projects / Tickets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B8ED87-319A-70F3-BDED-56A248DC9D36}"/>
              </a:ext>
            </a:extLst>
          </p:cNvPr>
          <p:cNvSpPr/>
          <p:nvPr/>
        </p:nvSpPr>
        <p:spPr>
          <a:xfrm>
            <a:off x="76200" y="6172200"/>
            <a:ext cx="2743200" cy="6463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5AE64AB4-CBB3-9959-49BC-A8745CB060C5}"/>
              </a:ext>
            </a:extLst>
          </p:cNvPr>
          <p:cNvSpPr txBox="1">
            <a:spLocks/>
          </p:cNvSpPr>
          <p:nvPr/>
        </p:nvSpPr>
        <p:spPr>
          <a:xfrm>
            <a:off x="577383" y="1103126"/>
            <a:ext cx="10515600" cy="2924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4"/>
              </a:buClr>
              <a:buSzPct val="90000"/>
              <a:buFont typeface="Wingdings" panose="05000000000000000000" pitchFamily="2" charset="2"/>
              <a:buChar char="§"/>
            </a:pP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49E63753-095D-A47B-0C00-32F16876679D}"/>
              </a:ext>
            </a:extLst>
          </p:cNvPr>
          <p:cNvSpPr txBox="1">
            <a:spLocks/>
          </p:cNvSpPr>
          <p:nvPr/>
        </p:nvSpPr>
        <p:spPr>
          <a:xfrm>
            <a:off x="381000" y="988106"/>
            <a:ext cx="10515600" cy="57154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4"/>
              </a:buClr>
              <a:buSzPct val="90000"/>
              <a:buFont typeface="Wingdings" charset="2"/>
              <a:buChar char="§"/>
            </a:pPr>
            <a:endParaRPr lang="en-US" sz="2000" dirty="0">
              <a:latin typeface="Lato"/>
              <a:ea typeface="Lato"/>
              <a:cs typeface="Calibri" panose="020F0502020204030204" pitchFamily="34" charset="0"/>
            </a:endParaRP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GB" sz="2000" dirty="0">
                <a:latin typeface="Lato"/>
                <a:ea typeface="Lato"/>
                <a:cs typeface="Calibri"/>
              </a:rPr>
              <a:t>2569 – Commission Report error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GB" sz="2000" dirty="0">
                <a:latin typeface="Lato"/>
                <a:ea typeface="Lato"/>
                <a:cs typeface="Calibri"/>
              </a:rPr>
              <a:t>2471 - V-One Open PO list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GB" sz="2000" dirty="0">
                <a:latin typeface="Lato"/>
                <a:ea typeface="Lato"/>
                <a:cs typeface="Calibri"/>
              </a:rPr>
              <a:t>2595 - Incorrect currency captured for TT payments in ZSAPHSBC program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GB" sz="2000" dirty="0">
                <a:latin typeface="Lato"/>
                <a:ea typeface="Lato"/>
                <a:cs typeface="Calibri"/>
              </a:rPr>
              <a:t>Timex Ticket Requirement - ZVA05N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GB" sz="2000" dirty="0">
                <a:latin typeface="Lato"/>
                <a:ea typeface="Lato"/>
                <a:cs typeface="Calibri"/>
              </a:rPr>
              <a:t>2752 - ZSAPHSBC Payment method - T modification to capture account number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GB" sz="2000" dirty="0">
                <a:latin typeface="Lato"/>
                <a:ea typeface="Lato"/>
                <a:cs typeface="Calibri"/>
              </a:rPr>
              <a:t>2788 - ZSAPHSBC program account number did not capture for any payment method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GB" sz="2000" dirty="0" err="1">
                <a:latin typeface="Lato"/>
                <a:ea typeface="Lato"/>
                <a:cs typeface="Calibri"/>
              </a:rPr>
              <a:t>VOne</a:t>
            </a:r>
            <a:r>
              <a:rPr lang="en-GB" sz="2000" dirty="0">
                <a:latin typeface="Lato"/>
                <a:ea typeface="Lato"/>
                <a:cs typeface="Calibri"/>
              </a:rPr>
              <a:t> Material Issue Slip Bad Data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GB" sz="2000" dirty="0">
                <a:latin typeface="Lato"/>
                <a:ea typeface="Lato"/>
                <a:cs typeface="Calibri"/>
              </a:rPr>
              <a:t>2273 - Process Improvement for Packing, Crating, Loading, and Dispatching Operations (Exercise)</a:t>
            </a:r>
          </a:p>
          <a:p>
            <a:pPr>
              <a:buClr>
                <a:srgbClr val="E76618"/>
              </a:buClr>
              <a:buSzPct val="90000"/>
              <a:buFont typeface="Wingdings" charset="2"/>
              <a:buChar char="§"/>
            </a:pPr>
            <a:r>
              <a:rPr lang="en-GB" sz="2000" dirty="0">
                <a:latin typeface="Lato"/>
                <a:ea typeface="Lato"/>
                <a:cs typeface="Calibri"/>
              </a:rPr>
              <a:t>2952 - Invoice Printing Program Inconsistency		</a:t>
            </a:r>
          </a:p>
        </p:txBody>
      </p:sp>
    </p:spTree>
    <p:extLst>
      <p:ext uri="{BB962C8B-B14F-4D97-AF65-F5344CB8AC3E}">
        <p14:creationId xmlns:p14="http://schemas.microsoft.com/office/powerpoint/2010/main" val="3235336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2E978CA-D571-446C-813C-7EB416F03253}"/>
              </a:ext>
            </a:extLst>
          </p:cNvPr>
          <p:cNvCxnSpPr>
            <a:cxnSpLocks/>
          </p:cNvCxnSpPr>
          <p:nvPr/>
        </p:nvCxnSpPr>
        <p:spPr>
          <a:xfrm>
            <a:off x="487680" y="990600"/>
            <a:ext cx="2331720" cy="0"/>
          </a:xfrm>
          <a:prstGeom prst="line">
            <a:avLst/>
          </a:prstGeom>
          <a:ln w="152400" cap="sq">
            <a:solidFill>
              <a:srgbClr val="E3693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BAE384-4018-40A9-9E1F-DAD16095BCEE}"/>
              </a:ext>
            </a:extLst>
          </p:cNvPr>
          <p:cNvCxnSpPr>
            <a:cxnSpLocks/>
          </p:cNvCxnSpPr>
          <p:nvPr/>
        </p:nvCxnSpPr>
        <p:spPr>
          <a:xfrm>
            <a:off x="2209800" y="990600"/>
            <a:ext cx="5562600" cy="0"/>
          </a:xfrm>
          <a:prstGeom prst="line">
            <a:avLst/>
          </a:prstGeom>
          <a:ln w="15875">
            <a:solidFill>
              <a:srgbClr val="E369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E56D760-EBF5-43AF-BCC4-76E43A51D543}"/>
              </a:ext>
            </a:extLst>
          </p:cNvPr>
          <p:cNvSpPr txBox="1"/>
          <p:nvPr/>
        </p:nvSpPr>
        <p:spPr>
          <a:xfrm>
            <a:off x="348343" y="206829"/>
            <a:ext cx="756646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defTabSz="457200">
              <a:defRPr/>
            </a:pPr>
            <a:r>
              <a:rPr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 panose="020B0603020202020204"/>
              </a:rPr>
              <a:t>Projects / Tickets – Client Wise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B8ED87-319A-70F3-BDED-56A248DC9D36}"/>
              </a:ext>
            </a:extLst>
          </p:cNvPr>
          <p:cNvSpPr/>
          <p:nvPr/>
        </p:nvSpPr>
        <p:spPr>
          <a:xfrm>
            <a:off x="76200" y="6172200"/>
            <a:ext cx="2743200" cy="6463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9A7EAC5-26C6-82D5-1DF6-3180371FB3A7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428544"/>
          <a:ext cx="8128000" cy="18542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1250241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9280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# of Tickets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407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V-One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185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Timex`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454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Abans</a:t>
                      </a:r>
                      <a:endParaRPr lang="en-US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084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Teejay</a:t>
                      </a:r>
                      <a:endParaRPr lang="en-US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940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0807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FF606F-7906-0B3E-F7A4-8C4FE83284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609" r="-1" b="8099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D71E64B-9F70-4956-A351-D707CAB0A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524" y="2696606"/>
            <a:ext cx="12188952" cy="4161394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06DEDE-DA68-0D26-70D0-4274C750D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205075"/>
            <a:ext cx="5021182" cy="1793620"/>
          </a:xfrm>
        </p:spPr>
        <p:txBody>
          <a:bodyPr anchor="b">
            <a:normAutofit/>
          </a:bodyPr>
          <a:lstStyle/>
          <a:p>
            <a:r>
              <a:rPr lang="en-GB" sz="5400" dirty="0">
                <a:solidFill>
                  <a:srgbClr val="FFFFFF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3863848"/>
      </p:ext>
    </p:extLst>
  </p:cSld>
  <p:clrMapOvr>
    <a:masterClrMapping/>
  </p:clrMapOvr>
</p:sld>
</file>

<file path=ppt/theme/theme1.xml><?xml version="1.0" encoding="utf-8"?>
<a:theme xmlns:a="http://schemas.openxmlformats.org/drawingml/2006/main" name="FadeVTI">
  <a:themeElements>
    <a:clrScheme name="gradient">
      <a:dk1>
        <a:sysClr val="windowText" lastClr="000000"/>
      </a:dk1>
      <a:lt1>
        <a:sysClr val="window" lastClr="FFFFFF"/>
      </a:lt1>
      <a:dk2>
        <a:srgbClr val="203040"/>
      </a:dk2>
      <a:lt2>
        <a:srgbClr val="ECF0F0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DA2A69"/>
      </a:accent6>
      <a:hlink>
        <a:srgbClr val="3E8FF1"/>
      </a:hlink>
      <a:folHlink>
        <a:srgbClr val="939393"/>
      </a:folHlink>
    </a:clrScheme>
    <a:fontScheme name="Custom 49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deVTI" id="{1194088A-B135-4437-9FD8-7466BBC13A13}" vid="{B787DE2F-1995-45D8-A8E2-6B5CC521AC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A2786084934C4F90631E25394E3C73" ma:contentTypeVersion="3" ma:contentTypeDescription="Create a new document." ma:contentTypeScope="" ma:versionID="0918591ef62c1dd561e84eee398cf0f1">
  <xsd:schema xmlns:xsd="http://www.w3.org/2001/XMLSchema" xmlns:xs="http://www.w3.org/2001/XMLSchema" xmlns:p="http://schemas.microsoft.com/office/2006/metadata/properties" xmlns:ns3="f31fc4de-4b12-45bd-83cc-245055e94385" targetNamespace="http://schemas.microsoft.com/office/2006/metadata/properties" ma:root="true" ma:fieldsID="66b042e0793aed75eb77bdecf1c2adef" ns3:_="">
    <xsd:import namespace="f31fc4de-4b12-45bd-83cc-245055e9438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1fc4de-4b12-45bd-83cc-245055e943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1B4A821-1EA1-40E6-B438-149638BC49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7C8F3E-A116-455A-8203-EE55AA122C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31fc4de-4b12-45bd-83cc-245055e943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74478E9-A1A6-40A1-A3B0-285ADC3D1716}">
  <ds:schemaRefs>
    <ds:schemaRef ds:uri="http://purl.org/dc/elements/1.1/"/>
    <ds:schemaRef ds:uri="http://purl.org/dc/dcmitype/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f31fc4de-4b12-45bd-83cc-245055e94385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173</Words>
  <Application>Microsoft Office PowerPoint</Application>
  <PresentationFormat>Widescreen</PresentationFormat>
  <Paragraphs>54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Aharoni</vt:lpstr>
      <vt:lpstr>Aptos</vt:lpstr>
      <vt:lpstr>Arial</vt:lpstr>
      <vt:lpstr>Avenir Next LT Pro</vt:lpstr>
      <vt:lpstr>Calibri</vt:lpstr>
      <vt:lpstr>Lato</vt:lpstr>
      <vt:lpstr>Trebuchet MS</vt:lpstr>
      <vt:lpstr>Wingdings</vt:lpstr>
      <vt:lpstr>FadeVTI</vt:lpstr>
      <vt:lpstr>Internship Viva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Upeksha Senanayake</dc:creator>
  <cp:lastModifiedBy>Upeksha Senanayake</cp:lastModifiedBy>
  <cp:revision>5</cp:revision>
  <dcterms:created xsi:type="dcterms:W3CDTF">2024-07-10T12:54:19Z</dcterms:created>
  <dcterms:modified xsi:type="dcterms:W3CDTF">2024-07-18T13:40:26Z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0x010100ACA2786084934C4F90631E25394E3C73</vt:lpwstr>
  </property>
</Properties>
</file>