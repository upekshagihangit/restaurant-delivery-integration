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2" r:id="rId3"/>
    <p:sldId id="263" r:id="rId4"/>
    <p:sldId id="264" r:id="rId5"/>
    <p:sldId id="266" r:id="rId6"/>
    <p:sldId id="267" r:id="rId7"/>
    <p:sldId id="269" r:id="rId8"/>
    <p:sldId id="271" r:id="rId9"/>
    <p:sldId id="270" r:id="rId10"/>
    <p:sldId id="265" r:id="rId11"/>
    <p:sldId id="272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2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5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2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2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4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1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5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0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5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9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8/11/2024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4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8/11/2024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6879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93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rishitsaraf/fast-food-restaurant-chain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9FB13-950E-AED7-96A2-0DD948646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4259814"/>
          </a:xfrm>
        </p:spPr>
        <p:txBody>
          <a:bodyPr>
            <a:normAutofit/>
          </a:bodyPr>
          <a:lstStyle/>
          <a:p>
            <a:r>
              <a:rPr lang="en-GB" sz="4200" dirty="0"/>
              <a:t>Research proposal on </a:t>
            </a:r>
            <a:br>
              <a:rPr lang="en-GB" sz="4200" dirty="0"/>
            </a:br>
            <a:r>
              <a:rPr lang="en-GB" sz="4200" dirty="0"/>
              <a:t>“AI-Driven Predictive Logistics Optimization in Restaurant Supply Chains”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44A9D-F1E2-A2F2-2F10-8BB90E1D7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GB" dirty="0"/>
              <a:t>S. U. G. Senanayake</a:t>
            </a:r>
          </a:p>
          <a:p>
            <a:r>
              <a:rPr lang="en-GB" dirty="0"/>
              <a:t>201462D</a:t>
            </a:r>
          </a:p>
        </p:txBody>
      </p:sp>
      <p:pic>
        <p:nvPicPr>
          <p:cNvPr id="4" name="Picture 3" descr="A colorful swirls of paint&#10;&#10;Description automatically generated with medium confidence">
            <a:extLst>
              <a:ext uri="{FF2B5EF4-FFF2-40B4-BE49-F238E27FC236}">
                <a16:creationId xmlns:a16="http://schemas.microsoft.com/office/drawing/2014/main" id="{7F5F54A9-2B96-1D1A-AB84-F0220D675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3" r="23056" b="-1"/>
          <a:stretch/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1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AB89CE-F5FF-CF73-4AA6-D11F081D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u="sng" dirty="0"/>
              <a:t>Industry Focus</a:t>
            </a:r>
            <a:br>
              <a:rPr lang="en-GB" dirty="0"/>
            </a:br>
            <a:br>
              <a:rPr lang="en-GB" sz="6000" i="1" dirty="0"/>
            </a:br>
            <a:r>
              <a:rPr lang="en-GB" sz="6000" dirty="0"/>
              <a:t>Industry: </a:t>
            </a:r>
            <a:r>
              <a:rPr lang="en-GB" sz="6000" i="1" dirty="0"/>
              <a:t>Food and Beverage</a:t>
            </a:r>
            <a:br>
              <a:rPr lang="en-GB" sz="6000" dirty="0"/>
            </a:br>
            <a:r>
              <a:rPr lang="en-GB" sz="6000" dirty="0"/>
              <a:t>Segment: </a:t>
            </a:r>
            <a:r>
              <a:rPr lang="en-GB" sz="6000" i="1" dirty="0"/>
              <a:t>Restaurant Supply Chains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2733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90E97-BF95-EB9E-2253-CDBE7CC30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Areas of Research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EC115-F38F-D723-3F2C-438511987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36" y="1769762"/>
            <a:ext cx="11101136" cy="3779837"/>
          </a:xfrm>
        </p:spPr>
        <p:txBody>
          <a:bodyPr/>
          <a:lstStyle/>
          <a:p>
            <a:r>
              <a:rPr lang="en-GB" u="sng" dirty="0"/>
              <a:t>Route Planning</a:t>
            </a:r>
          </a:p>
          <a:p>
            <a:pPr lvl="1"/>
            <a:r>
              <a:rPr lang="en-GB" dirty="0"/>
              <a:t>Optimization of delivery routes for restaurant supply chains.</a:t>
            </a:r>
          </a:p>
          <a:p>
            <a:pPr lvl="1"/>
            <a:r>
              <a:rPr lang="en-GB" dirty="0"/>
              <a:t>Ensuring timely and fresh delivery of perishable goods.</a:t>
            </a:r>
          </a:p>
          <a:p>
            <a:pPr lvl="1"/>
            <a:r>
              <a:rPr lang="en-GB" dirty="0"/>
              <a:t>Minimizing fuel consumption and delivery time.</a:t>
            </a:r>
          </a:p>
          <a:p>
            <a:r>
              <a:rPr lang="en-GB" u="sng" dirty="0"/>
              <a:t>Demand Forecasting</a:t>
            </a:r>
          </a:p>
          <a:p>
            <a:pPr lvl="1"/>
            <a:r>
              <a:rPr lang="en-GB" dirty="0"/>
              <a:t>Predicting demand for ingredients and supplies in restaurants.</a:t>
            </a:r>
          </a:p>
          <a:p>
            <a:pPr lvl="1"/>
            <a:r>
              <a:rPr lang="en-GB" dirty="0"/>
              <a:t>Reducing waste and stockouts by aligning supply with predicted demand.</a:t>
            </a:r>
          </a:p>
          <a:p>
            <a:pPr lvl="1"/>
            <a:r>
              <a:rPr lang="en-GB" dirty="0"/>
              <a:t>Leveraging historical data and AI algorithms for accurate forecasting.</a:t>
            </a:r>
          </a:p>
        </p:txBody>
      </p:sp>
    </p:spTree>
    <p:extLst>
      <p:ext uri="{BB962C8B-B14F-4D97-AF65-F5344CB8AC3E}">
        <p14:creationId xmlns:p14="http://schemas.microsoft.com/office/powerpoint/2010/main" val="2156765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A1A4-601D-3785-7089-884B4F88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497F-41B2-E3BD-35A7-D31DFBB94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795642"/>
            <a:ext cx="11101136" cy="46051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Operational Efficiency </a:t>
            </a:r>
            <a:r>
              <a:rPr lang="en-GB" dirty="0"/>
              <a:t>in Restaurant Supply Chains</a:t>
            </a:r>
          </a:p>
          <a:p>
            <a:pPr lvl="1"/>
            <a:r>
              <a:rPr lang="en-GB" u="sng" dirty="0"/>
              <a:t>Seamless Distribution</a:t>
            </a:r>
          </a:p>
          <a:p>
            <a:pPr lvl="2"/>
            <a:r>
              <a:rPr lang="en-GB" dirty="0"/>
              <a:t>Enhance the reliability of supply chains by reducing delays in the delivery of crucial ingredients, ensuring that restaurants receive their supplies on time</a:t>
            </a:r>
          </a:p>
          <a:p>
            <a:pPr lvl="2"/>
            <a:r>
              <a:rPr lang="en-GB" dirty="0"/>
              <a:t>Streamline coordination between suppliers and restaurants, improving inventory management and reducing instances of stockouts</a:t>
            </a:r>
          </a:p>
          <a:p>
            <a:pPr lvl="1"/>
            <a:r>
              <a:rPr lang="en-GB" u="sng" dirty="0"/>
              <a:t>Cost Reduction</a:t>
            </a:r>
          </a:p>
          <a:p>
            <a:pPr lvl="2"/>
            <a:r>
              <a:rPr lang="en-GB" dirty="0"/>
              <a:t>Lower logistics costs by optimizing routes and reducing unnecessary trips, especially for high-frequency deliveries to multiple restaurant locations</a:t>
            </a:r>
          </a:p>
          <a:p>
            <a:pPr lvl="2"/>
            <a:r>
              <a:rPr lang="en-GB" dirty="0"/>
              <a:t>Improve inventory turnover rates in restaurants by aligning supply quantities with actual demand, reducing holding costs and excess inventory</a:t>
            </a:r>
          </a:p>
        </p:txBody>
      </p:sp>
    </p:spTree>
    <p:extLst>
      <p:ext uri="{BB962C8B-B14F-4D97-AF65-F5344CB8AC3E}">
        <p14:creationId xmlns:p14="http://schemas.microsoft.com/office/powerpoint/2010/main" val="239969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CA1A4-601D-3785-7089-884B4F88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E497F-41B2-E3BD-35A7-D31DFBB94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1795642"/>
            <a:ext cx="11101136" cy="46051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2. Sustainability</a:t>
            </a:r>
            <a:r>
              <a:rPr lang="en-GB" dirty="0"/>
              <a:t> in Restaurant Supply Chains</a:t>
            </a:r>
          </a:p>
          <a:p>
            <a:pPr lvl="1"/>
            <a:r>
              <a:rPr lang="en-GB" u="sng" dirty="0"/>
              <a:t>Food Waste Minimization</a:t>
            </a:r>
          </a:p>
          <a:p>
            <a:pPr lvl="2"/>
            <a:r>
              <a:rPr lang="en-GB" dirty="0"/>
              <a:t>Accurately predict ingredient demand to prevent over-ordering and spoilage in restaurant kitchens</a:t>
            </a:r>
          </a:p>
          <a:p>
            <a:pPr lvl="2"/>
            <a:r>
              <a:rPr lang="en-GB" dirty="0"/>
              <a:t>Align supply orders with precise demand forecasts, ensuring fresh and timely supply of perishable goods</a:t>
            </a:r>
          </a:p>
          <a:p>
            <a:pPr lvl="1"/>
            <a:r>
              <a:rPr lang="en-GB" u="sng" dirty="0"/>
              <a:t>Carbon Footprint Reduction</a:t>
            </a:r>
          </a:p>
          <a:p>
            <a:pPr lvl="2"/>
            <a:r>
              <a:rPr lang="en-GB" dirty="0"/>
              <a:t>Optimize delivery routes to minimize fuel consumption, specifically targeting frequent, short-distance restaurant deliveries</a:t>
            </a:r>
          </a:p>
          <a:p>
            <a:pPr lvl="2"/>
            <a:r>
              <a:rPr lang="en-GB" dirty="0"/>
              <a:t>Implement greener transportation methods, such as electric vehicles or optimized delivery schedules to reduce emissions</a:t>
            </a:r>
          </a:p>
        </p:txBody>
      </p:sp>
    </p:spTree>
    <p:extLst>
      <p:ext uri="{BB962C8B-B14F-4D97-AF65-F5344CB8AC3E}">
        <p14:creationId xmlns:p14="http://schemas.microsoft.com/office/powerpoint/2010/main" val="410766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D636-BF4F-6850-3B0F-3F4011A0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1DDB6-FFB7-2D16-6C18-6E0E64899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2254912"/>
            <a:ext cx="11101136" cy="2946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1. Data Collection</a:t>
            </a:r>
            <a:endParaRPr lang="en-GB" dirty="0"/>
          </a:p>
          <a:p>
            <a:pPr lvl="1"/>
            <a:r>
              <a:rPr lang="en-GB" u="sng" dirty="0"/>
              <a:t>Geographical Data</a:t>
            </a:r>
            <a:r>
              <a:rPr lang="en-GB" dirty="0"/>
              <a:t>: Location and routing information from the Kaggle dataset for restaurant chains.</a:t>
            </a:r>
            <a:endParaRPr lang="en-GB" u="sng" dirty="0"/>
          </a:p>
          <a:p>
            <a:pPr lvl="1"/>
            <a:r>
              <a:rPr lang="en-GB" u="sng" dirty="0"/>
              <a:t>Sales Data</a:t>
            </a:r>
            <a:r>
              <a:rPr lang="en-GB" dirty="0"/>
              <a:t>: Historical sales data from restaurants, capturing daily/weekly sales volumes, seasonal trends, and promotional impacts from the Kaggle dataset for restaurant chains..</a:t>
            </a:r>
          </a:p>
          <a:p>
            <a:pPr lvl="1"/>
            <a:r>
              <a:rPr lang="en-GB" u="sng" dirty="0"/>
              <a:t>External Data</a:t>
            </a:r>
            <a:r>
              <a:rPr lang="en-GB" dirty="0"/>
              <a:t>: Augment sales data with external factors such as weather, event calendars, and economic indicators to enhance prediction accuracy.</a:t>
            </a:r>
          </a:p>
        </p:txBody>
      </p:sp>
    </p:spTree>
    <p:extLst>
      <p:ext uri="{BB962C8B-B14F-4D97-AF65-F5344CB8AC3E}">
        <p14:creationId xmlns:p14="http://schemas.microsoft.com/office/powerpoint/2010/main" val="130080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D636-BF4F-6850-3B0F-3F4011A0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1DDB6-FFB7-2D16-6C18-6E0E64899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5" y="1633809"/>
            <a:ext cx="11101136" cy="4818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2. Model Development - Route Optimization</a:t>
            </a:r>
            <a:endParaRPr lang="en-GB" dirty="0"/>
          </a:p>
          <a:p>
            <a:pPr lvl="1"/>
            <a:r>
              <a:rPr lang="en-GB" u="sng" dirty="0"/>
              <a:t>Static Route Optimization</a:t>
            </a:r>
          </a:p>
          <a:p>
            <a:pPr lvl="2"/>
            <a:r>
              <a:rPr lang="en-GB" dirty="0"/>
              <a:t>Dijkstra’s and A Algorithms</a:t>
            </a:r>
          </a:p>
          <a:p>
            <a:pPr lvl="2"/>
            <a:r>
              <a:rPr lang="en-GB" dirty="0"/>
              <a:t>Vehicle Routing Problem (VRP) Solvers</a:t>
            </a:r>
          </a:p>
          <a:p>
            <a:pPr lvl="3"/>
            <a:r>
              <a:rPr lang="en-GB" dirty="0"/>
              <a:t>Genetic Algorithms (GA)</a:t>
            </a:r>
          </a:p>
          <a:p>
            <a:pPr lvl="3"/>
            <a:r>
              <a:rPr lang="en-GB" dirty="0"/>
              <a:t>Simulated Annealing (SA)</a:t>
            </a:r>
          </a:p>
          <a:p>
            <a:pPr lvl="3"/>
            <a:r>
              <a:rPr lang="en-GB" dirty="0"/>
              <a:t>Ant Colony Optimization (ACO)</a:t>
            </a:r>
          </a:p>
          <a:p>
            <a:pPr lvl="2"/>
            <a:r>
              <a:rPr lang="en-GB" dirty="0"/>
              <a:t>Mixed-Integer Linear Programming (MILP)</a:t>
            </a:r>
          </a:p>
          <a:p>
            <a:pPr lvl="1"/>
            <a:r>
              <a:rPr lang="en-GB" u="sng" dirty="0"/>
              <a:t>Dynamic Route Optimization</a:t>
            </a:r>
          </a:p>
          <a:p>
            <a:pPr lvl="2"/>
            <a:r>
              <a:rPr lang="en-GB" dirty="0"/>
              <a:t>Reinforcement Learning - Q-Learning and Deep Q-Networks (DQN)</a:t>
            </a:r>
          </a:p>
        </p:txBody>
      </p:sp>
    </p:spTree>
    <p:extLst>
      <p:ext uri="{BB962C8B-B14F-4D97-AF65-F5344CB8AC3E}">
        <p14:creationId xmlns:p14="http://schemas.microsoft.com/office/powerpoint/2010/main" val="2352617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D636-BF4F-6850-3B0F-3F4011A0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1DDB6-FFB7-2D16-6C18-6E0E64899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5" y="2184191"/>
            <a:ext cx="11101136" cy="2489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2. Model Development - Demand Forecasting</a:t>
            </a:r>
          </a:p>
          <a:p>
            <a:pPr lvl="1"/>
            <a:r>
              <a:rPr lang="en-GB" dirty="0"/>
              <a:t>Time Series Analysis</a:t>
            </a:r>
          </a:p>
          <a:p>
            <a:pPr lvl="1"/>
            <a:r>
              <a:rPr lang="en-GB" dirty="0"/>
              <a:t>ARIMA (Auto Regressive Integrated Moving Average)</a:t>
            </a:r>
          </a:p>
          <a:p>
            <a:pPr lvl="1"/>
            <a:r>
              <a:rPr lang="en-GB" dirty="0"/>
              <a:t>LSTM (Long Short-Term Memory)</a:t>
            </a:r>
          </a:p>
        </p:txBody>
      </p:sp>
    </p:spTree>
    <p:extLst>
      <p:ext uri="{BB962C8B-B14F-4D97-AF65-F5344CB8AC3E}">
        <p14:creationId xmlns:p14="http://schemas.microsoft.com/office/powerpoint/2010/main" val="1192355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FD636-BF4F-6850-3B0F-3F4011A09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1DDB6-FFB7-2D16-6C18-6E0E64899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5" y="1633809"/>
            <a:ext cx="11101136" cy="4818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3. Model Evaluation</a:t>
            </a:r>
          </a:p>
          <a:p>
            <a:pPr lvl="1"/>
            <a:r>
              <a:rPr lang="en-GB" u="sng" dirty="0"/>
              <a:t>Route Optimization</a:t>
            </a:r>
          </a:p>
          <a:p>
            <a:pPr lvl="2"/>
            <a:r>
              <a:rPr lang="en-GB" dirty="0"/>
              <a:t>Cross-Validation</a:t>
            </a:r>
          </a:p>
          <a:p>
            <a:pPr lvl="2"/>
            <a:r>
              <a:rPr lang="en-GB" dirty="0"/>
              <a:t>Custom Scoring</a:t>
            </a:r>
          </a:p>
          <a:p>
            <a:pPr lvl="1"/>
            <a:r>
              <a:rPr lang="en-GB" u="sng" dirty="0"/>
              <a:t>Demand Forecasting</a:t>
            </a:r>
          </a:p>
          <a:p>
            <a:pPr lvl="2"/>
            <a:r>
              <a:rPr lang="en-GB" dirty="0"/>
              <a:t>Mean Absolute Error (MAE)</a:t>
            </a:r>
          </a:p>
          <a:p>
            <a:pPr lvl="2"/>
            <a:r>
              <a:rPr lang="en-GB" dirty="0"/>
              <a:t>Mean Squared Error (MSE)</a:t>
            </a:r>
          </a:p>
          <a:p>
            <a:pPr lvl="2"/>
            <a:r>
              <a:rPr lang="en-GB" dirty="0"/>
              <a:t>R-squared (Coefficient of Determination)</a:t>
            </a:r>
          </a:p>
        </p:txBody>
      </p:sp>
    </p:spTree>
    <p:extLst>
      <p:ext uri="{BB962C8B-B14F-4D97-AF65-F5344CB8AC3E}">
        <p14:creationId xmlns:p14="http://schemas.microsoft.com/office/powerpoint/2010/main" val="50905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2F78C-09FC-CB0A-3AC5-58EE0FB57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Dataset for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3C167-E0E1-9F51-DDAD-C10A78D3F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5" y="1677104"/>
            <a:ext cx="11101136" cy="4939356"/>
          </a:xfrm>
        </p:spPr>
        <p:txBody>
          <a:bodyPr>
            <a:normAutofit/>
          </a:bodyPr>
          <a:lstStyle/>
          <a:p>
            <a:r>
              <a:rPr lang="en-GB" sz="1600" b="1" dirty="0"/>
              <a:t>Dataset Name </a:t>
            </a:r>
            <a:r>
              <a:rPr lang="en-GB" sz="1600" dirty="0"/>
              <a:t>- </a:t>
            </a:r>
            <a:r>
              <a:rPr lang="en-GB" sz="1600" b="1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 Food Restaurant Chain</a:t>
            </a:r>
            <a:r>
              <a:rPr lang="en-GB" sz="1600" b="1" dirty="0">
                <a:solidFill>
                  <a:schemeClr val="tx2"/>
                </a:solidFill>
              </a:rPr>
              <a:t> (Click)</a:t>
            </a:r>
          </a:p>
          <a:p>
            <a:r>
              <a:rPr lang="en-GB" sz="1600" b="1" dirty="0"/>
              <a:t>Source</a:t>
            </a:r>
            <a:r>
              <a:rPr lang="en-GB" sz="1600" dirty="0"/>
              <a:t> - Kaggle Dataset by </a:t>
            </a:r>
            <a:r>
              <a:rPr lang="en-GB" sz="1600" dirty="0" err="1"/>
              <a:t>Rishit</a:t>
            </a:r>
            <a:r>
              <a:rPr lang="en-GB" sz="1600" dirty="0"/>
              <a:t> Saraf</a:t>
            </a:r>
          </a:p>
          <a:p>
            <a:r>
              <a:rPr lang="en-GB" sz="1600" b="1" dirty="0"/>
              <a:t>How It Will Be Used </a:t>
            </a:r>
            <a:r>
              <a:rPr lang="en-GB" sz="1600" dirty="0"/>
              <a:t>-</a:t>
            </a:r>
          </a:p>
          <a:p>
            <a:pPr lvl="1"/>
            <a:r>
              <a:rPr lang="en-GB" sz="1600" u="sng" dirty="0"/>
              <a:t>Route Planning</a:t>
            </a:r>
          </a:p>
          <a:p>
            <a:pPr lvl="2"/>
            <a:r>
              <a:rPr lang="en-GB" sz="1600" u="sng" dirty="0"/>
              <a:t>Data Integration</a:t>
            </a:r>
            <a:r>
              <a:rPr lang="en-GB" sz="1600" dirty="0"/>
              <a:t> - Use the geographical coordinates to </a:t>
            </a:r>
            <a:r>
              <a:rPr lang="en-GB" sz="1600" dirty="0" err="1"/>
              <a:t>analyze</a:t>
            </a:r>
            <a:r>
              <a:rPr lang="en-GB" sz="1600" dirty="0"/>
              <a:t> and optimize delivery routes to various restaurant locations</a:t>
            </a:r>
          </a:p>
          <a:p>
            <a:pPr lvl="2"/>
            <a:r>
              <a:rPr lang="en-GB" sz="1600" u="sng" dirty="0"/>
              <a:t>Efficiency Analysis</a:t>
            </a:r>
            <a:r>
              <a:rPr lang="en-GB" sz="1600" dirty="0"/>
              <a:t> - Identify the most efficient delivery routes considering the distribution of restaurant locations</a:t>
            </a:r>
          </a:p>
          <a:p>
            <a:pPr lvl="1"/>
            <a:r>
              <a:rPr lang="en-GB" sz="1600" u="sng" dirty="0"/>
              <a:t>Demand Forecasting</a:t>
            </a:r>
          </a:p>
          <a:p>
            <a:pPr lvl="2"/>
            <a:r>
              <a:rPr lang="en-GB" sz="1600" u="sng" dirty="0"/>
              <a:t>Sales Data Integration </a:t>
            </a:r>
            <a:r>
              <a:rPr lang="en-GB" sz="1600" dirty="0"/>
              <a:t>- Incorporate historical sales data from restaurant locations to predict future demand for ingredients and supplies.</a:t>
            </a:r>
          </a:p>
          <a:p>
            <a:pPr lvl="2"/>
            <a:r>
              <a:rPr lang="en-GB" sz="1600" u="sng" dirty="0"/>
              <a:t>Regional Demand Patterns </a:t>
            </a:r>
            <a:r>
              <a:rPr lang="en-GB" sz="1600" dirty="0"/>
              <a:t>- Analyse sales trends across different regions to forecast demand variations based on factors such as seasonality, promotions, and local preferences.</a:t>
            </a:r>
          </a:p>
          <a:p>
            <a:pPr lvl="1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803012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817E-04FA-1F9F-D2C7-A9BF69DD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958B7-695D-6168-115A-7BF65E32A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999" y="2123446"/>
            <a:ext cx="11101136" cy="3779837"/>
          </a:xfrm>
        </p:spPr>
        <p:txBody>
          <a:bodyPr/>
          <a:lstStyle/>
          <a:p>
            <a:r>
              <a:rPr lang="en-GB" dirty="0"/>
              <a:t>Python Libraries: </a:t>
            </a:r>
          </a:p>
          <a:p>
            <a:pPr lvl="1"/>
            <a:r>
              <a:rPr lang="en-GB" dirty="0"/>
              <a:t>pandas, </a:t>
            </a:r>
            <a:r>
              <a:rPr lang="en-GB" dirty="0" err="1"/>
              <a:t>numpy</a:t>
            </a:r>
            <a:r>
              <a:rPr lang="en-GB" dirty="0"/>
              <a:t>, </a:t>
            </a:r>
            <a:r>
              <a:rPr lang="en-GB" dirty="0" err="1"/>
              <a:t>statsmodels</a:t>
            </a:r>
            <a:r>
              <a:rPr lang="en-GB" dirty="0"/>
              <a:t>, TensorFlow, </a:t>
            </a:r>
            <a:r>
              <a:rPr lang="en-GB" dirty="0" err="1"/>
              <a:t>Keras</a:t>
            </a:r>
            <a:r>
              <a:rPr lang="en-GB" dirty="0"/>
              <a:t>, </a:t>
            </a:r>
            <a:r>
              <a:rPr lang="en-GB" dirty="0" err="1"/>
              <a:t>networkx</a:t>
            </a:r>
            <a:r>
              <a:rPr lang="en-GB" dirty="0"/>
              <a:t>, scikit-learn, Stable-Baselines3</a:t>
            </a:r>
          </a:p>
          <a:p>
            <a:r>
              <a:rPr lang="en-GB" dirty="0"/>
              <a:t>Visualization: </a:t>
            </a:r>
          </a:p>
          <a:p>
            <a:pPr lvl="1"/>
            <a:r>
              <a:rPr lang="en-GB" dirty="0"/>
              <a:t> matplotlib, seaborn</a:t>
            </a:r>
          </a:p>
        </p:txBody>
      </p:sp>
    </p:spTree>
    <p:extLst>
      <p:ext uri="{BB962C8B-B14F-4D97-AF65-F5344CB8AC3E}">
        <p14:creationId xmlns:p14="http://schemas.microsoft.com/office/powerpoint/2010/main" val="3641199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6260A41-D170-44DF-9081-4DF21FEA4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5FF435-E138-4CA4-80B8-D25C259F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485C0B2-7933-4948-A03E-349095C3D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0"/>
              <a:ext cx="11520000" cy="5760000"/>
              <a:chOff x="5981700" y="-1"/>
              <a:chExt cx="6042660" cy="302133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B908EF2-2272-4B36-96AB-C32B42798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435FF-41C1-463D-9CBA-A39108AB8D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8B33A19-5CB6-4F2E-B3E7-8C58F59B7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F2B898-391D-428B-986C-20A26B231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A330802-5C22-4A7E-BFDD-B52A75A2A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965FD02-57E9-494C-81A6-EAE3BFA128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4F2C922-889D-461D-97A2-5F11410B91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565F5B8-8061-418A-B7EC-93604025F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9AFD05-6925-75F2-4D71-C4FE41C74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1520825"/>
            <a:ext cx="6373812" cy="2808288"/>
          </a:xfrm>
        </p:spPr>
        <p:txBody>
          <a:bodyPr anchor="t">
            <a:normAutofit/>
          </a:bodyPr>
          <a:lstStyle/>
          <a:p>
            <a:r>
              <a:rPr lang="en-GB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112182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DarkSeed_2SEEDS">
      <a:dk1>
        <a:srgbClr val="000000"/>
      </a:dk1>
      <a:lt1>
        <a:srgbClr val="FFFFFF"/>
      </a:lt1>
      <a:dk2>
        <a:srgbClr val="3E3423"/>
      </a:dk2>
      <a:lt2>
        <a:srgbClr val="E2E7E8"/>
      </a:lt2>
      <a:accent1>
        <a:srgbClr val="B14D3B"/>
      </a:accent1>
      <a:accent2>
        <a:srgbClr val="C34D6C"/>
      </a:accent2>
      <a:accent3>
        <a:srgbClr val="C3904D"/>
      </a:accent3>
      <a:accent4>
        <a:srgbClr val="4EB13B"/>
      </a:accent4>
      <a:accent5>
        <a:srgbClr val="49B965"/>
      </a:accent5>
      <a:accent6>
        <a:srgbClr val="3BB18A"/>
      </a:accent6>
      <a:hlink>
        <a:srgbClr val="519130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592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Bell MT</vt:lpstr>
      <vt:lpstr>GlowVTI</vt:lpstr>
      <vt:lpstr>Research proposal on  “AI-Driven Predictive Logistics Optimization in Restaurant Supply Chains”</vt:lpstr>
      <vt:lpstr>Industry Focus  Industry: Food and Beverage Segment: Restaurant Supply Chains</vt:lpstr>
      <vt:lpstr>Key Areas of Research</vt:lpstr>
      <vt:lpstr>Objectives</vt:lpstr>
      <vt:lpstr>Objectives</vt:lpstr>
      <vt:lpstr>Research Methodology</vt:lpstr>
      <vt:lpstr>Research Methodology</vt:lpstr>
      <vt:lpstr>Research Methodology</vt:lpstr>
      <vt:lpstr>Research Methodology</vt:lpstr>
      <vt:lpstr>Dataset for Research</vt:lpstr>
      <vt:lpstr>Implementation Tools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Upeksha Senanayake</dc:creator>
  <cp:lastModifiedBy>Upeksha Senanayake</cp:lastModifiedBy>
  <cp:revision>11</cp:revision>
  <dcterms:created xsi:type="dcterms:W3CDTF">2024-07-21T11:08:12Z</dcterms:created>
  <dcterms:modified xsi:type="dcterms:W3CDTF">2024-08-11T20:00:04Z</dcterms:modified>
</cp:coreProperties>
</file>