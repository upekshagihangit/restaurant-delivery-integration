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73" r:id="rId3"/>
    <p:sldId id="279" r:id="rId4"/>
    <p:sldId id="280" r:id="rId5"/>
    <p:sldId id="281" r:id="rId6"/>
    <p:sldId id="275" r:id="rId7"/>
    <p:sldId id="276" r:id="rId8"/>
    <p:sldId id="278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2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5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27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2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4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12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5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03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5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9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4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8/13/2024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96879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93" r:id="rId6"/>
    <p:sldLayoutId id="2147483689" r:id="rId7"/>
    <p:sldLayoutId id="2147483690" r:id="rId8"/>
    <p:sldLayoutId id="2147483691" r:id="rId9"/>
    <p:sldLayoutId id="2147483692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ocureconsupplychain.wbresearch.com/blog/mcdonalds-ai-data-optimize-supply-chai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ishitsaraf/fast-food-restaurant-chai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9FB13-950E-AED7-96A2-0DD948646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4500561" cy="4259814"/>
          </a:xfrm>
        </p:spPr>
        <p:txBody>
          <a:bodyPr>
            <a:normAutofit/>
          </a:bodyPr>
          <a:lstStyle/>
          <a:p>
            <a:r>
              <a:rPr lang="en-GB" sz="4200" dirty="0"/>
              <a:t>Research proposal on </a:t>
            </a:r>
            <a:br>
              <a:rPr lang="en-GB" sz="4200" dirty="0"/>
            </a:br>
            <a:r>
              <a:rPr lang="en-GB" sz="4200" dirty="0"/>
              <a:t>“AI-Driven Predictive Logistics Optimization in Restaurant Supply Chains”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44A9D-F1E2-A2F2-2F10-8BB90E1D7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988476"/>
            <a:ext cx="4500561" cy="1320249"/>
          </a:xfrm>
        </p:spPr>
        <p:txBody>
          <a:bodyPr>
            <a:normAutofit/>
          </a:bodyPr>
          <a:lstStyle/>
          <a:p>
            <a:r>
              <a:rPr lang="en-GB" dirty="0"/>
              <a:t>S. U. G. Senanayake</a:t>
            </a:r>
          </a:p>
          <a:p>
            <a:r>
              <a:rPr lang="en-GB" dirty="0"/>
              <a:t>201462D</a:t>
            </a:r>
          </a:p>
        </p:txBody>
      </p:sp>
      <p:pic>
        <p:nvPicPr>
          <p:cNvPr id="4" name="Picture 3" descr="A colorful swirls of paint&#10;&#10;Description automatically generated with medium confidence">
            <a:extLst>
              <a:ext uri="{FF2B5EF4-FFF2-40B4-BE49-F238E27FC236}">
                <a16:creationId xmlns:a16="http://schemas.microsoft.com/office/drawing/2014/main" id="{7F5F54A9-2B96-1D1A-AB84-F0220D675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23" r="23056" b="-1"/>
          <a:stretch/>
        </p:blipFill>
        <p:spPr>
          <a:xfrm>
            <a:off x="5747424" y="10"/>
            <a:ext cx="6444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1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AEE4-E07A-F1BD-3BD9-5425FB82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332966"/>
            <a:ext cx="11101135" cy="935117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1DE96F-61A8-DCE9-8C06-158EC15D1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2949693"/>
            <a:ext cx="11101136" cy="3779837"/>
          </a:xfrm>
        </p:spPr>
        <p:txBody>
          <a:bodyPr>
            <a:normAutofit/>
          </a:bodyPr>
          <a:lstStyle/>
          <a:p>
            <a:r>
              <a:rPr lang="en-GB" dirty="0"/>
              <a:t>This research focuses on developing an AI-driven framework that integrates route optimization and demand forecasting and specifically tailored for restaurant supply chains.</a:t>
            </a:r>
          </a:p>
          <a:p>
            <a:r>
              <a:rPr lang="en-GB" dirty="0"/>
              <a:t>Current Challenges in Restaurant Supply Chains</a:t>
            </a:r>
          </a:p>
          <a:p>
            <a:pPr lvl="1"/>
            <a:r>
              <a:rPr lang="en-GB" b="1" dirty="0"/>
              <a:t>Route Optimization </a:t>
            </a:r>
            <a:r>
              <a:rPr lang="en-GB" dirty="0"/>
              <a:t>(</a:t>
            </a:r>
            <a:r>
              <a:rPr lang="en-GB" dirty="0" err="1"/>
              <a:t>Rajak</a:t>
            </a:r>
            <a:r>
              <a:rPr lang="en-GB" dirty="0"/>
              <a:t> et al., 2021)</a:t>
            </a:r>
          </a:p>
          <a:p>
            <a:pPr lvl="1"/>
            <a:r>
              <a:rPr lang="en-GB" b="1" dirty="0"/>
              <a:t>Sustainability</a:t>
            </a:r>
            <a:r>
              <a:rPr lang="en-GB" dirty="0"/>
              <a:t> (</a:t>
            </a:r>
            <a:r>
              <a:rPr lang="en-GB" dirty="0" err="1"/>
              <a:t>Rajak</a:t>
            </a:r>
            <a:r>
              <a:rPr lang="en-GB" dirty="0"/>
              <a:t> et al., 2021) (Sutherland et al., 2016)</a:t>
            </a:r>
          </a:p>
          <a:p>
            <a:pPr lvl="1"/>
            <a:r>
              <a:rPr lang="en-GB" b="1" dirty="0"/>
              <a:t>Complexity and Efficiency </a:t>
            </a:r>
            <a:r>
              <a:rPr lang="en-GB" dirty="0"/>
              <a:t>(Neal Analytics, 2022)</a:t>
            </a:r>
          </a:p>
          <a:p>
            <a:pPr lvl="1"/>
            <a:r>
              <a:rPr lang="en-GB" b="1" dirty="0"/>
              <a:t>Consumer Expectations and Competitive Advantage</a:t>
            </a:r>
            <a:r>
              <a:rPr lang="en-GB" dirty="0"/>
              <a:t> (Neal Analytics, 2022) (Sutherland et al., 2016)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91DF8C-7693-A837-1369-98AE695C7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890" y="1292285"/>
            <a:ext cx="5824448" cy="726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8F3BC9-9811-1B0E-1822-3795EBC3B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312" y="1311213"/>
            <a:ext cx="2969759" cy="14143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9C71E4-0880-CD16-E035-1494F9B8D635}"/>
              </a:ext>
            </a:extLst>
          </p:cNvPr>
          <p:cNvSpPr txBox="1"/>
          <p:nvPr/>
        </p:nvSpPr>
        <p:spPr>
          <a:xfrm>
            <a:off x="5185121" y="2237819"/>
            <a:ext cx="63352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 dirty="0">
                <a:solidFill>
                  <a:schemeClr val="bg2">
                    <a:lumMod val="10000"/>
                    <a:lumOff val="90000"/>
                  </a:schemeClr>
                </a:solidFill>
              </a:rPr>
              <a:t>Source: </a:t>
            </a:r>
            <a:r>
              <a:rPr lang="en-GB" sz="1000" i="1" dirty="0">
                <a:solidFill>
                  <a:schemeClr val="bg2">
                    <a:lumMod val="10000"/>
                    <a:lumOff val="9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https://procureconsupplychain.wbresearch.com/blog/mcdonalds-ai-data-optimize-supply-chain</a:t>
            </a:r>
            <a:endParaRPr lang="en-GB" sz="1000" i="1" dirty="0">
              <a:solidFill>
                <a:schemeClr val="bg2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824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AEE4-E07A-F1BD-3BD9-5425FB82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332966"/>
            <a:ext cx="11101135" cy="935117"/>
          </a:xfrm>
        </p:spPr>
        <p:txBody>
          <a:bodyPr/>
          <a:lstStyle/>
          <a:p>
            <a:r>
              <a:rPr lang="en-GB" dirty="0"/>
              <a:t>Introduction Cont.…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1DE96F-61A8-DCE9-8C06-158EC15D1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268083"/>
            <a:ext cx="11101136" cy="5256951"/>
          </a:xfrm>
        </p:spPr>
        <p:txBody>
          <a:bodyPr/>
          <a:lstStyle/>
          <a:p>
            <a:r>
              <a:rPr lang="en-GB" b="1" dirty="0"/>
              <a:t>Research Gaps</a:t>
            </a:r>
          </a:p>
          <a:p>
            <a:pPr lvl="1"/>
            <a:r>
              <a:rPr lang="en-GB" dirty="0"/>
              <a:t>Limited Applications of AI in Restaurant Supply Chains</a:t>
            </a:r>
          </a:p>
          <a:p>
            <a:pPr lvl="1"/>
            <a:r>
              <a:rPr lang="en-GB" dirty="0"/>
              <a:t>Integration of Route Optimization and Demand Forecasting</a:t>
            </a:r>
          </a:p>
          <a:p>
            <a:pPr lvl="1"/>
            <a:r>
              <a:rPr lang="en-GB" dirty="0"/>
              <a:t>Adaptation to Dynamic and Uncertain Environments</a:t>
            </a:r>
          </a:p>
          <a:p>
            <a:r>
              <a:rPr lang="en-GB" b="1" dirty="0"/>
              <a:t>Objectives</a:t>
            </a:r>
            <a:r>
              <a:rPr lang="en-GB" dirty="0"/>
              <a:t> of the Study</a:t>
            </a:r>
          </a:p>
          <a:p>
            <a:pPr lvl="1"/>
            <a:r>
              <a:rPr lang="en-GB" dirty="0"/>
              <a:t>Developing AI models that integrate route optimization and demand forecasting</a:t>
            </a:r>
          </a:p>
          <a:p>
            <a:pPr lvl="1"/>
            <a:r>
              <a:rPr lang="en-GB" dirty="0"/>
              <a:t>Ensuring that these models can dynamically adjust to real-time changes in the environment</a:t>
            </a:r>
          </a:p>
          <a:p>
            <a:pPr lvl="1"/>
            <a:r>
              <a:rPr lang="en-GB" dirty="0"/>
              <a:t>Tailoring these models specifically to meet the needs of restaurant supply chains, with an emphasis on sustainability and cost-efficiency</a:t>
            </a:r>
          </a:p>
          <a:p>
            <a:r>
              <a:rPr lang="en-GB" dirty="0"/>
              <a:t>By addressing these unique logistical challenges of the restaurant industry, this study aims to </a:t>
            </a:r>
            <a:r>
              <a:rPr lang="en-GB" b="1" dirty="0"/>
              <a:t>enhance operational efficiency, reduce costs, and promote sustainability through advanced AI techniques</a:t>
            </a:r>
            <a:r>
              <a:rPr lang="en-GB" dirty="0"/>
              <a:t>.</a:t>
            </a:r>
          </a:p>
          <a:p>
            <a:pPr lvl="1"/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383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AEE4-E07A-F1BD-3BD9-5425FB82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332966"/>
            <a:ext cx="11101135" cy="935117"/>
          </a:xfrm>
        </p:spPr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1DE96F-61A8-DCE9-8C06-158EC15D1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268083"/>
            <a:ext cx="11588742" cy="550365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/>
              <a:t>Data Collection</a:t>
            </a:r>
          </a:p>
          <a:p>
            <a:pPr lvl="1"/>
            <a:r>
              <a:rPr lang="en-GB" dirty="0"/>
              <a:t>Geographical Data - Location and routing information </a:t>
            </a:r>
          </a:p>
          <a:p>
            <a:pPr lvl="1"/>
            <a:r>
              <a:rPr lang="en-GB" dirty="0"/>
              <a:t>Sales Data - Historical sales data </a:t>
            </a:r>
          </a:p>
          <a:p>
            <a:pPr lvl="1"/>
            <a:r>
              <a:rPr lang="en-GB" dirty="0"/>
              <a:t>External Data - weather, event calendars, and economic indicators to enhance prediction accuracy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Model Development - Route Optimization (Giuffrida et al., 2022)</a:t>
            </a:r>
          </a:p>
          <a:p>
            <a:pPr marL="720000" marR="0" lvl="1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sng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Static Route Optimization</a:t>
            </a:r>
          </a:p>
          <a:p>
            <a:pPr marL="1080000" marR="0" lvl="2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Dijkstra Algorithm</a:t>
            </a:r>
          </a:p>
          <a:p>
            <a:pPr marL="1080000" marR="0" lvl="2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Vehicle Routing Problem (VRP) Solvers</a:t>
            </a:r>
          </a:p>
          <a:p>
            <a:pPr marL="1440000" marR="0" lvl="3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Genetic Algorithms </a:t>
            </a: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(GA) - </a:t>
            </a:r>
            <a:r>
              <a:rPr kumimoji="0" lang="en-GB" sz="11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to find near optimal solutions for routing problems with constraints like delivery windows and vehicle capacities</a:t>
            </a:r>
          </a:p>
          <a:p>
            <a:pPr marL="1440000" marR="0" lvl="3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Simulated Annealing (SA) -  explore the solution space using this probabilistic technique</a:t>
            </a:r>
          </a:p>
          <a:p>
            <a:pPr marL="1440000" marR="0" lvl="3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Ant Colony Optimization (ACO) - </a:t>
            </a:r>
            <a:r>
              <a:rPr kumimoji="0" lang="en-GB" sz="15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to simulate the shortest path finding for delivery route optimization</a:t>
            </a:r>
            <a:endParaRPr kumimoji="0" lang="en-GB" sz="1800" b="0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1080000" marR="0" lvl="2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Mixed-Integer Linear Programming (MILP) - </a:t>
            </a:r>
            <a:r>
              <a:rPr kumimoji="0" lang="en-GB" sz="10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solving routing problems with multiple constraints like time windows and vehicle capacities</a:t>
            </a:r>
            <a:endParaRPr kumimoji="0" lang="en-GB" sz="1800" b="0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720000" marR="0" lvl="1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sng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Dynamic Route Optimization</a:t>
            </a:r>
          </a:p>
          <a:p>
            <a:pPr marL="1080000" marR="0" lvl="2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Reinforcement Learning - Q-Learning and Deep Q-Networks (DQN) - </a:t>
            </a:r>
            <a:r>
              <a:rPr kumimoji="0" lang="en-GB" sz="15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an agent learns the best routes through trial and error, optimizing for rewards like minimized travel distance or fuel consumption, especially in dynamic and uncertain environments.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947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AEE4-E07A-F1BD-3BD9-5425FB82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332966"/>
            <a:ext cx="11101135" cy="935117"/>
          </a:xfrm>
        </p:spPr>
        <p:txBody>
          <a:bodyPr/>
          <a:lstStyle/>
          <a:p>
            <a:r>
              <a:rPr lang="en-GB" dirty="0"/>
              <a:t>Methodology Cont.…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1DE96F-61A8-DCE9-8C06-158EC15D1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268083"/>
            <a:ext cx="11101136" cy="5256951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GB" sz="18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Model Development - Demand Forecasting </a:t>
            </a:r>
            <a:r>
              <a:rPr kumimoji="0" lang="en-GB" sz="120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(Smart Network Operator Platform Enabling Shared, Integrated and More Sustainable Urban Freight Logistics [D4.1] -Best Practice Catalogue, n.d.)</a:t>
            </a:r>
          </a:p>
          <a:p>
            <a:pPr lvl="1"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Time Series Analysis – ARIMA / </a:t>
            </a:r>
            <a:r>
              <a:rPr lang="en-GB" dirty="0"/>
              <a:t>SARIMA (</a:t>
            </a:r>
            <a:r>
              <a:rPr lang="en-GB" dirty="0" err="1"/>
              <a:t>Menculini</a:t>
            </a:r>
            <a:r>
              <a:rPr lang="en-GB" dirty="0"/>
              <a:t> et al., 2021)</a:t>
            </a:r>
          </a:p>
          <a:p>
            <a:pPr lvl="1">
              <a:defRPr/>
            </a:pPr>
            <a:r>
              <a:rPr lang="en-GB" dirty="0"/>
              <a:t>Regression Models - Linear Regression / Random Forest</a:t>
            </a:r>
            <a:endParaRPr kumimoji="0" lang="en-GB" sz="1800" b="0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720000" marR="0" lvl="1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Deep Learning Models - </a:t>
            </a: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LSTM (Long Short-Term Memory) (</a:t>
            </a:r>
            <a:r>
              <a:rPr kumimoji="0" lang="en-GB" sz="1800" b="0" i="0" u="none" strike="noStrike" kern="1200" cap="none" spc="5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Menculini</a:t>
            </a: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et al., 2021)</a:t>
            </a:r>
          </a:p>
          <a:p>
            <a:pPr marL="342900" indent="-342900">
              <a:spcBef>
                <a:spcPts val="500"/>
              </a:spcBef>
              <a:buFont typeface="+mj-lt"/>
              <a:buAutoNum type="arabicPeriod" startAt="4"/>
              <a:defRPr/>
            </a:pPr>
            <a:r>
              <a:rPr kumimoji="0" lang="en-GB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Models Evaluation</a:t>
            </a:r>
            <a:endParaRPr kumimoji="0" lang="en-GB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720000" marR="0" lvl="1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sng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Route Optimization</a:t>
            </a:r>
          </a:p>
          <a:p>
            <a:pPr marL="1080000" marR="0" lvl="2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Cross-Validation</a:t>
            </a:r>
          </a:p>
          <a:p>
            <a:pPr marL="1080000" marR="0" lvl="2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Custom Scoring</a:t>
            </a:r>
          </a:p>
          <a:p>
            <a:pPr marL="720000" marR="0" lvl="1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sng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Demand Forecasting</a:t>
            </a:r>
            <a:r>
              <a:rPr kumimoji="0" lang="en-GB" sz="1800" b="0" i="0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(ARIMA vs Prophet vs LSTM for Time Series Prediction, 2022)</a:t>
            </a:r>
          </a:p>
          <a:p>
            <a:pPr marL="1080000" marR="0" lvl="2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Mean Absolute Error (MAE)</a:t>
            </a:r>
          </a:p>
          <a:p>
            <a:pPr marL="1080000" marR="0" lvl="2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Mean Squared Error (MSE)</a:t>
            </a:r>
          </a:p>
          <a:p>
            <a:pPr marL="1080000" marR="0" lvl="2" indent="-2700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R-squared (Coefficient of Determination)</a:t>
            </a:r>
          </a:p>
          <a:p>
            <a:pPr lvl="1">
              <a:defRPr/>
            </a:pPr>
            <a:endParaRPr kumimoji="0" lang="en-GB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342900" indent="-342900">
              <a:buFont typeface="+mj-lt"/>
              <a:buAutoNum type="arabicPeriod" startAt="3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575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AEE4-E07A-F1BD-3BD9-5425FB82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332966"/>
            <a:ext cx="11101135" cy="935117"/>
          </a:xfrm>
        </p:spPr>
        <p:txBody>
          <a:bodyPr/>
          <a:lstStyle/>
          <a:p>
            <a:r>
              <a:rPr lang="en-GB" dirty="0"/>
              <a:t>Significance and Impact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1DE96F-61A8-DCE9-8C06-158EC15D1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8" y="1268083"/>
            <a:ext cx="11101136" cy="503782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Enhanced Efficiency and Cost Reduction </a:t>
            </a:r>
            <a:r>
              <a:rPr lang="en-GB" sz="1300" dirty="0"/>
              <a:t>(AI in Logistics: Streamlining Supply Chain Operations, 2022)</a:t>
            </a:r>
          </a:p>
          <a:p>
            <a:pPr lvl="1"/>
            <a:r>
              <a:rPr lang="en-GB" dirty="0"/>
              <a:t>Optimized Resource Allocation</a:t>
            </a:r>
          </a:p>
          <a:p>
            <a:pPr lvl="1"/>
            <a:r>
              <a:rPr lang="en-GB" dirty="0"/>
              <a:t>Improved Route Planning</a:t>
            </a:r>
          </a:p>
          <a:p>
            <a:r>
              <a:rPr lang="en-GB" dirty="0"/>
              <a:t>Sustainability </a:t>
            </a:r>
          </a:p>
          <a:p>
            <a:pPr lvl="1"/>
            <a:r>
              <a:rPr lang="en-GB" dirty="0"/>
              <a:t>Minimized Food Waste</a:t>
            </a:r>
          </a:p>
          <a:p>
            <a:pPr lvl="1"/>
            <a:r>
              <a:rPr lang="en-GB" dirty="0"/>
              <a:t>Reduction in Carbon Footprint</a:t>
            </a:r>
          </a:p>
          <a:p>
            <a:r>
              <a:rPr lang="en-GB" dirty="0"/>
              <a:t>Scalability and Competitive Advantage</a:t>
            </a:r>
          </a:p>
          <a:p>
            <a:r>
              <a:rPr lang="en-GB" dirty="0"/>
              <a:t>Customer Satisfaction </a:t>
            </a:r>
            <a:r>
              <a:rPr lang="en-GB" sz="1500" dirty="0"/>
              <a:t>(AI in Logistics: Streamlining Supply Chain Operations, 2022)</a:t>
            </a:r>
          </a:p>
          <a:p>
            <a:pPr lvl="1"/>
            <a:r>
              <a:rPr lang="en-GB" dirty="0"/>
              <a:t>Consistent Supply</a:t>
            </a:r>
          </a:p>
          <a:p>
            <a:pPr lvl="1"/>
            <a:r>
              <a:rPr lang="en-GB" dirty="0"/>
              <a:t>Timely Deliveries</a:t>
            </a:r>
          </a:p>
          <a:p>
            <a:r>
              <a:rPr lang="en-GB" dirty="0"/>
              <a:t>Contribution to Research and Industry</a:t>
            </a:r>
          </a:p>
          <a:p>
            <a:pPr lvl="1"/>
            <a:r>
              <a:rPr lang="en-GB" dirty="0"/>
              <a:t>Innovative Application of AI</a:t>
            </a:r>
          </a:p>
          <a:p>
            <a:pPr lvl="1"/>
            <a:r>
              <a:rPr lang="en-GB" dirty="0"/>
              <a:t>Framework for Future Studies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918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AEE4-E07A-F1BD-3BD9-5425FB82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332966"/>
            <a:ext cx="11101135" cy="935117"/>
          </a:xfrm>
        </p:spPr>
        <p:txBody>
          <a:bodyPr/>
          <a:lstStyle/>
          <a:p>
            <a:r>
              <a:rPr lang="en-GB" dirty="0"/>
              <a:t>Research Plan</a:t>
            </a:r>
          </a:p>
        </p:txBody>
      </p:sp>
      <p:pic>
        <p:nvPicPr>
          <p:cNvPr id="4" name="Content Placeholder 3" descr="A graph with colorful squares&#10;&#10;Description automatically generated with medium confidence">
            <a:extLst>
              <a:ext uri="{FF2B5EF4-FFF2-40B4-BE49-F238E27FC236}">
                <a16:creationId xmlns:a16="http://schemas.microsoft.com/office/drawing/2014/main" id="{A39159EA-5924-4147-73BC-9A9D532DC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9" y="1751162"/>
            <a:ext cx="11962301" cy="3355675"/>
          </a:xfrm>
        </p:spPr>
      </p:pic>
    </p:spTree>
    <p:extLst>
      <p:ext uri="{BB962C8B-B14F-4D97-AF65-F5344CB8AC3E}">
        <p14:creationId xmlns:p14="http://schemas.microsoft.com/office/powerpoint/2010/main" val="427157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AEE4-E07A-F1BD-3BD9-5425FB82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332966"/>
            <a:ext cx="11101135" cy="935117"/>
          </a:xfrm>
        </p:spPr>
        <p:txBody>
          <a:bodyPr/>
          <a:lstStyle/>
          <a:p>
            <a:r>
              <a:rPr lang="en-GB" dirty="0"/>
              <a:t>Progress of Work to Date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1DE96F-61A8-DCE9-8C06-158EC15D1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7" y="1268083"/>
            <a:ext cx="11459345" cy="5374257"/>
          </a:xfrm>
        </p:spPr>
        <p:txBody>
          <a:bodyPr>
            <a:normAutofit/>
          </a:bodyPr>
          <a:lstStyle/>
          <a:p>
            <a:r>
              <a:rPr lang="en-GB" dirty="0"/>
              <a:t>Reviewed over 10 research papers focusing on “AI-driven predictive logistics optimization in restaurant supply chains”.</a:t>
            </a:r>
          </a:p>
          <a:p>
            <a:r>
              <a:rPr lang="en-GB" dirty="0"/>
              <a:t>Found a dataset on Kaggle on Restaurant Supply Chains.</a:t>
            </a:r>
          </a:p>
          <a:p>
            <a:pPr lvl="1"/>
            <a:r>
              <a:rPr lang="en-GB" dirty="0"/>
              <a:t>Dataset Name - </a:t>
            </a:r>
            <a:r>
              <a:rPr lang="en-GB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 Food Restaurant Chain</a:t>
            </a:r>
            <a:r>
              <a:rPr lang="en-GB" dirty="0"/>
              <a:t> (Click)</a:t>
            </a:r>
          </a:p>
          <a:p>
            <a:pPr lvl="1"/>
            <a:r>
              <a:rPr lang="en-GB" dirty="0"/>
              <a:t>Source - </a:t>
            </a:r>
            <a:r>
              <a:rPr lang="en-GB" dirty="0" err="1"/>
              <a:t>Rishit</a:t>
            </a:r>
            <a:r>
              <a:rPr lang="en-GB" dirty="0"/>
              <a:t> Saraf</a:t>
            </a:r>
          </a:p>
          <a:p>
            <a:r>
              <a:rPr lang="en-GB" dirty="0"/>
              <a:t>Learning essential mathematical concepts critical for predictive analytics, including statistical methods, time series analysis, and optimization techniques, to ensure the accurate application of AI models in logistics. </a:t>
            </a:r>
          </a:p>
          <a:p>
            <a:pPr lvl="1"/>
            <a:r>
              <a:rPr lang="en-GB" dirty="0"/>
              <a:t>Essential Math for Data Science - Thomas </a:t>
            </a:r>
            <a:r>
              <a:rPr lang="en-GB" dirty="0" err="1"/>
              <a:t>Nield</a:t>
            </a:r>
            <a:r>
              <a:rPr lang="en-GB" dirty="0"/>
              <a:t> (Book)</a:t>
            </a:r>
          </a:p>
          <a:p>
            <a:pPr lvl="1"/>
            <a:r>
              <a:rPr lang="en-GB" dirty="0"/>
              <a:t>Practical Statistics for Data Scientists - Peter Bruce, Andrew Bruce, Peter </a:t>
            </a:r>
            <a:r>
              <a:rPr lang="en-GB" dirty="0" err="1"/>
              <a:t>Gedeck</a:t>
            </a:r>
            <a:r>
              <a:rPr lang="en-GB" dirty="0"/>
              <a:t> (Book)</a:t>
            </a:r>
          </a:p>
          <a:p>
            <a:r>
              <a:rPr lang="en-GB" dirty="0"/>
              <a:t>Learning and experimenting with leading machine learning libraries such as Scikit-learn and </a:t>
            </a:r>
            <a:r>
              <a:rPr lang="en-GB" dirty="0" err="1"/>
              <a:t>Keras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Hands-On Machine Learning with Scikit-Learn, </a:t>
            </a:r>
            <a:r>
              <a:rPr lang="en-GB" dirty="0" err="1"/>
              <a:t>Keras</a:t>
            </a:r>
            <a:r>
              <a:rPr lang="en-GB" dirty="0"/>
              <a:t>, and TensorFlow - </a:t>
            </a:r>
            <a:r>
              <a:rPr lang="en-GB" dirty="0" err="1"/>
              <a:t>Aurelien</a:t>
            </a:r>
            <a:r>
              <a:rPr lang="en-GB" dirty="0"/>
              <a:t> </a:t>
            </a:r>
            <a:r>
              <a:rPr lang="en-GB" dirty="0" err="1"/>
              <a:t>Geron</a:t>
            </a:r>
            <a:r>
              <a:rPr lang="en-GB" dirty="0"/>
              <a:t> (Book)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785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6260A41-D170-44DF-9081-4DF21FEA4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95FF435-E138-4CA4-80B8-D25C259F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485C0B2-7933-4948-A03E-349095C3D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72000" y="0"/>
              <a:ext cx="11520000" cy="5760000"/>
              <a:chOff x="5981700" y="-1"/>
              <a:chExt cx="6042660" cy="302133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B908EF2-2272-4B36-96AB-C32B42798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435FF-41C1-463D-9CBA-A39108AB8D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8B33A19-5CB6-4F2E-B3E7-8C58F59B7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9F2B898-391D-428B-986C-20A26B231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A330802-5C22-4A7E-BFDD-B52A75A2A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965FD02-57E9-494C-81A6-EAE3BFA128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4F2C922-889D-461D-97A2-5F11410B91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565F5B8-8061-418A-B7EC-93604025F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9AFD05-6925-75F2-4D71-C4FE41C74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1520825"/>
            <a:ext cx="6373812" cy="2808288"/>
          </a:xfrm>
        </p:spPr>
        <p:txBody>
          <a:bodyPr anchor="t">
            <a:normAutofit/>
          </a:bodyPr>
          <a:lstStyle/>
          <a:p>
            <a:r>
              <a:rPr lang="en-GB"/>
              <a:t>Thank You!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112182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AnalogousFromDarkSeed_2SEEDS">
      <a:dk1>
        <a:srgbClr val="000000"/>
      </a:dk1>
      <a:lt1>
        <a:srgbClr val="FFFFFF"/>
      </a:lt1>
      <a:dk2>
        <a:srgbClr val="3E3423"/>
      </a:dk2>
      <a:lt2>
        <a:srgbClr val="E2E7E8"/>
      </a:lt2>
      <a:accent1>
        <a:srgbClr val="B14D3B"/>
      </a:accent1>
      <a:accent2>
        <a:srgbClr val="C34D6C"/>
      </a:accent2>
      <a:accent3>
        <a:srgbClr val="C3904D"/>
      </a:accent3>
      <a:accent4>
        <a:srgbClr val="4EB13B"/>
      </a:accent4>
      <a:accent5>
        <a:srgbClr val="49B965"/>
      </a:accent5>
      <a:accent6>
        <a:srgbClr val="3BB18A"/>
      </a:accent6>
      <a:hlink>
        <a:srgbClr val="519130"/>
      </a:hlink>
      <a:folHlink>
        <a:srgbClr val="7F7F7F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713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Bell MT</vt:lpstr>
      <vt:lpstr>GlowVTI</vt:lpstr>
      <vt:lpstr>Research proposal on  “AI-Driven Predictive Logistics Optimization in Restaurant Supply Chains”</vt:lpstr>
      <vt:lpstr>Introduction</vt:lpstr>
      <vt:lpstr>Introduction Cont.…</vt:lpstr>
      <vt:lpstr>Methodology</vt:lpstr>
      <vt:lpstr>Methodology Cont.…</vt:lpstr>
      <vt:lpstr>Significance and Impact</vt:lpstr>
      <vt:lpstr>Research Plan</vt:lpstr>
      <vt:lpstr>Progress of Work to Date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Upeksha Senanayake</dc:creator>
  <cp:lastModifiedBy>Upeksha Senanayake</cp:lastModifiedBy>
  <cp:revision>16</cp:revision>
  <dcterms:created xsi:type="dcterms:W3CDTF">2024-07-21T11:08:12Z</dcterms:created>
  <dcterms:modified xsi:type="dcterms:W3CDTF">2024-08-13T19:03:55Z</dcterms:modified>
</cp:coreProperties>
</file>